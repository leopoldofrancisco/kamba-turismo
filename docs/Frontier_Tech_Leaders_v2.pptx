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256" r:id="rId5"/>
    <p:sldId id="278" r:id="rId6"/>
    <p:sldId id="258" r:id="rId7"/>
    <p:sldId id="288" r:id="rId8"/>
    <p:sldId id="270" r:id="rId9"/>
    <p:sldId id="271" r:id="rId10"/>
    <p:sldId id="281" r:id="rId11"/>
    <p:sldId id="272" r:id="rId12"/>
    <p:sldId id="282" r:id="rId13"/>
    <p:sldId id="289" r:id="rId14"/>
    <p:sldId id="274" r:id="rId15"/>
    <p:sldId id="286" r:id="rId16"/>
    <p:sldId id="283" r:id="rId17"/>
    <p:sldId id="287" r:id="rId18"/>
    <p:sldId id="284" r:id="rId19"/>
    <p:sldId id="277" r:id="rId20"/>
    <p:sldId id="268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60" d="100"/>
          <a:sy n="60" d="100"/>
        </p:scale>
        <p:origin x="16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Cacombe" userId="461dc0e7-15b8-4d12-8c65-6706fd669b56" providerId="ADAL" clId="{AAF0F511-5D6C-CC4E-AC45-B01B16C18ED7}"/>
    <pc:docChg chg="undo custSel modSld">
      <pc:chgData name="Cristovao Cacombe" userId="461dc0e7-15b8-4d12-8c65-6706fd669b56" providerId="ADAL" clId="{AAF0F511-5D6C-CC4E-AC45-B01B16C18ED7}" dt="2025-06-20T06:57:38.407" v="53" actId="22"/>
      <pc:docMkLst>
        <pc:docMk/>
      </pc:docMkLst>
      <pc:sldChg chg="modSp">
        <pc:chgData name="Cristovao Cacombe" userId="461dc0e7-15b8-4d12-8c65-6706fd669b56" providerId="ADAL" clId="{AAF0F511-5D6C-CC4E-AC45-B01B16C18ED7}" dt="2025-06-20T06:55:59.127" v="18" actId="1076"/>
        <pc:sldMkLst>
          <pc:docMk/>
          <pc:sldMk cId="0" sldId="256"/>
        </pc:sldMkLst>
        <pc:spChg chg="mod">
          <ac:chgData name="Cristovao Cacombe" userId="461dc0e7-15b8-4d12-8c65-6706fd669b56" providerId="ADAL" clId="{AAF0F511-5D6C-CC4E-AC45-B01B16C18ED7}" dt="2025-06-20T06:55:53.092" v="17" actId="1076"/>
          <ac:spMkLst>
            <pc:docMk/>
            <pc:sldMk cId="0" sldId="256"/>
            <ac:spMk id="4" creationId="{119D6634-8C52-56C8-C196-BBFF1A999BF3}"/>
          </ac:spMkLst>
        </pc:spChg>
        <pc:spChg chg="mod">
          <ac:chgData name="Cristovao Cacombe" userId="461dc0e7-15b8-4d12-8c65-6706fd669b56" providerId="ADAL" clId="{AAF0F511-5D6C-CC4E-AC45-B01B16C18ED7}" dt="2025-06-20T06:55:59.127" v="18" actId="1076"/>
          <ac:spMkLst>
            <pc:docMk/>
            <pc:sldMk cId="0" sldId="256"/>
            <ac:spMk id="476" creationId="{00000000-0000-0000-0000-000000000000}"/>
          </ac:spMkLst>
        </pc:spChg>
      </pc:sldChg>
      <pc:sldChg chg="addSp delSp modSp">
        <pc:chgData name="Cristovao Cacombe" userId="461dc0e7-15b8-4d12-8c65-6706fd669b56" providerId="ADAL" clId="{AAF0F511-5D6C-CC4E-AC45-B01B16C18ED7}" dt="2025-06-20T06:57:38.407" v="53" actId="22"/>
        <pc:sldMkLst>
          <pc:docMk/>
          <pc:sldMk cId="0" sldId="258"/>
        </pc:sldMkLst>
        <pc:spChg chg="add del">
          <ac:chgData name="Cristovao Cacombe" userId="461dc0e7-15b8-4d12-8c65-6706fd669b56" providerId="ADAL" clId="{AAF0F511-5D6C-CC4E-AC45-B01B16C18ED7}" dt="2025-06-20T06:57:38.407" v="53" actId="22"/>
          <ac:spMkLst>
            <pc:docMk/>
            <pc:sldMk cId="0" sldId="258"/>
            <ac:spMk id="4" creationId="{1179131E-F870-459B-822B-3BDC169F86B8}"/>
          </ac:spMkLst>
        </pc:spChg>
        <pc:spChg chg="mod">
          <ac:chgData name="Cristovao Cacombe" userId="461dc0e7-15b8-4d12-8c65-6706fd669b56" providerId="ADAL" clId="{AAF0F511-5D6C-CC4E-AC45-B01B16C18ED7}" dt="2025-06-20T06:57:20.210" v="51" actId="22"/>
          <ac:spMkLst>
            <pc:docMk/>
            <pc:sldMk cId="0" sldId="258"/>
            <ac:spMk id="490" creationId="{00000000-0000-0000-0000-000000000000}"/>
          </ac:spMkLst>
        </pc:spChg>
      </pc:sldChg>
      <pc:sldChg chg="modSp">
        <pc:chgData name="Cristovao Cacombe" userId="461dc0e7-15b8-4d12-8c65-6706fd669b56" providerId="ADAL" clId="{AAF0F511-5D6C-CC4E-AC45-B01B16C18ED7}" dt="2025-06-20T06:56:10.609" v="48" actId="20577"/>
        <pc:sldMkLst>
          <pc:docMk/>
          <pc:sldMk cId="1968293515" sldId="278"/>
        </pc:sldMkLst>
        <pc:spChg chg="mod">
          <ac:chgData name="Cristovao Cacombe" userId="461dc0e7-15b8-4d12-8c65-6706fd669b56" providerId="ADAL" clId="{AAF0F511-5D6C-CC4E-AC45-B01B16C18ED7}" dt="2025-06-20T06:56:10.609" v="48" actId="20577"/>
          <ac:spMkLst>
            <pc:docMk/>
            <pc:sldMk cId="1968293515" sldId="278"/>
            <ac:spMk id="476" creationId="{00000000-0000-0000-0000-000000000000}"/>
          </ac:spMkLst>
        </pc:spChg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40DCA-E6BA-4C6F-9594-B191F0898814}" type="doc">
      <dgm:prSet loTypeId="urn:microsoft.com/office/officeart/2005/8/layout/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8BFE72BB-AFD1-4C6E-98DD-40C1DA22B394}">
      <dgm:prSet/>
      <dgm:spPr/>
      <dgm:t>
        <a:bodyPr/>
        <a:lstStyle/>
        <a:p>
          <a:pPr rtl="0"/>
          <a:r>
            <a:rPr lang="pt-BR" b="0" i="0" baseline="0" smtClean="0"/>
            <a:t>Coleta de Dados</a:t>
          </a:r>
          <a:endParaRPr lang="pt-PT" dirty="0"/>
        </a:p>
      </dgm:t>
    </dgm:pt>
    <dgm:pt modelId="{E8341DF4-C373-4738-97E8-A22E8B3DA1A1}" type="parTrans" cxnId="{6B315E7F-6862-4211-BBF9-0CB995E74775}">
      <dgm:prSet/>
      <dgm:spPr/>
      <dgm:t>
        <a:bodyPr/>
        <a:lstStyle/>
        <a:p>
          <a:endParaRPr lang="pt-BR"/>
        </a:p>
      </dgm:t>
    </dgm:pt>
    <dgm:pt modelId="{BB2FF377-3B88-4F56-A1A5-547B1651F6F5}" type="sibTrans" cxnId="{6B315E7F-6862-4211-BBF9-0CB995E74775}">
      <dgm:prSet/>
      <dgm:spPr/>
      <dgm:t>
        <a:bodyPr/>
        <a:lstStyle/>
        <a:p>
          <a:endParaRPr lang="pt-BR"/>
        </a:p>
      </dgm:t>
    </dgm:pt>
    <dgm:pt modelId="{E4DCC85D-40B5-401A-9F89-8543E884CEC7}">
      <dgm:prSet/>
      <dgm:spPr/>
      <dgm:t>
        <a:bodyPr/>
        <a:lstStyle/>
        <a:p>
          <a:pPr rtl="0"/>
          <a:r>
            <a:rPr lang="pt-PT" b="1" dirty="0" smtClean="0"/>
            <a:t>Pré-Processamento</a:t>
          </a:r>
          <a:endParaRPr lang="pt-PT" dirty="0"/>
        </a:p>
      </dgm:t>
    </dgm:pt>
    <dgm:pt modelId="{AA91AD46-4A66-4A8A-AEA4-5DF28A891442}" type="parTrans" cxnId="{932DDAA3-5B24-47B3-B522-B04123B564A0}">
      <dgm:prSet/>
      <dgm:spPr/>
      <dgm:t>
        <a:bodyPr/>
        <a:lstStyle/>
        <a:p>
          <a:endParaRPr lang="pt-BR"/>
        </a:p>
      </dgm:t>
    </dgm:pt>
    <dgm:pt modelId="{35B0204E-F85B-4762-9702-91D9F54F45B5}" type="sibTrans" cxnId="{932DDAA3-5B24-47B3-B522-B04123B564A0}">
      <dgm:prSet/>
      <dgm:spPr/>
      <dgm:t>
        <a:bodyPr/>
        <a:lstStyle/>
        <a:p>
          <a:endParaRPr lang="pt-BR"/>
        </a:p>
      </dgm:t>
    </dgm:pt>
    <dgm:pt modelId="{3B8D546D-2C1F-4A8C-B928-5CA1E28394A0}">
      <dgm:prSet/>
      <dgm:spPr/>
      <dgm:t>
        <a:bodyPr/>
        <a:lstStyle/>
        <a:p>
          <a:pPr rtl="0"/>
          <a:r>
            <a:rPr lang="pt-PT" b="1" dirty="0" smtClean="0"/>
            <a:t>Análise Exploratória (EDA)</a:t>
          </a:r>
          <a:endParaRPr lang="pt-PT" dirty="0"/>
        </a:p>
      </dgm:t>
    </dgm:pt>
    <dgm:pt modelId="{86AEAE8D-EF54-43BF-8BF1-1F2C1397E4F3}" type="parTrans" cxnId="{4A4511FD-DF26-43F1-9AC7-F549086E1207}">
      <dgm:prSet/>
      <dgm:spPr/>
      <dgm:t>
        <a:bodyPr/>
        <a:lstStyle/>
        <a:p>
          <a:endParaRPr lang="pt-BR"/>
        </a:p>
      </dgm:t>
    </dgm:pt>
    <dgm:pt modelId="{6563E6B3-2A8A-4E36-853B-B65568D7FD12}" type="sibTrans" cxnId="{4A4511FD-DF26-43F1-9AC7-F549086E1207}">
      <dgm:prSet/>
      <dgm:spPr/>
      <dgm:t>
        <a:bodyPr/>
        <a:lstStyle/>
        <a:p>
          <a:endParaRPr lang="pt-BR"/>
        </a:p>
      </dgm:t>
    </dgm:pt>
    <dgm:pt modelId="{45322929-82B9-45B5-8E46-78D890D657F3}">
      <dgm:prSet/>
      <dgm:spPr/>
      <dgm:t>
        <a:bodyPr/>
        <a:lstStyle/>
        <a:p>
          <a:r>
            <a:rPr lang="pt-PT" b="1" dirty="0" smtClean="0"/>
            <a:t>Modelo Preditivo</a:t>
          </a:r>
          <a:endParaRPr lang="pt-PT" dirty="0"/>
        </a:p>
      </dgm:t>
    </dgm:pt>
    <dgm:pt modelId="{9BCA1FE8-02A0-46A7-9D24-8822214C7F11}" type="parTrans" cxnId="{8D46DBB0-3C02-4E6D-BE94-B1EB0D5284FA}">
      <dgm:prSet/>
      <dgm:spPr/>
      <dgm:t>
        <a:bodyPr/>
        <a:lstStyle/>
        <a:p>
          <a:endParaRPr lang="pt-BR"/>
        </a:p>
      </dgm:t>
    </dgm:pt>
    <dgm:pt modelId="{8D9659C0-5E9D-4CDA-9266-CBD33864B4E0}" type="sibTrans" cxnId="{8D46DBB0-3C02-4E6D-BE94-B1EB0D5284FA}">
      <dgm:prSet/>
      <dgm:spPr/>
      <dgm:t>
        <a:bodyPr/>
        <a:lstStyle/>
        <a:p>
          <a:endParaRPr lang="pt-BR"/>
        </a:p>
      </dgm:t>
    </dgm:pt>
    <dgm:pt modelId="{3E7ECF5C-0B31-4EE8-BBE0-7D982C96BE92}">
      <dgm:prSet/>
      <dgm:spPr/>
      <dgm:t>
        <a:bodyPr/>
        <a:lstStyle/>
        <a:p>
          <a:r>
            <a:rPr lang="pt-PT" b="1" dirty="0" smtClean="0"/>
            <a:t>Dashboard</a:t>
          </a:r>
          <a:endParaRPr lang="pt-BR" dirty="0"/>
        </a:p>
      </dgm:t>
    </dgm:pt>
    <dgm:pt modelId="{154EF009-48F1-4756-89A5-B0A5107339BB}" type="parTrans" cxnId="{5A136B5B-004B-4F44-9B5F-5D0DB141FCD2}">
      <dgm:prSet/>
      <dgm:spPr/>
      <dgm:t>
        <a:bodyPr/>
        <a:lstStyle/>
        <a:p>
          <a:endParaRPr lang="pt-BR"/>
        </a:p>
      </dgm:t>
    </dgm:pt>
    <dgm:pt modelId="{10214E6E-9016-4845-A142-A302DD2D8A03}" type="sibTrans" cxnId="{5A136B5B-004B-4F44-9B5F-5D0DB141FCD2}">
      <dgm:prSet/>
      <dgm:spPr/>
      <dgm:t>
        <a:bodyPr/>
        <a:lstStyle/>
        <a:p>
          <a:endParaRPr lang="pt-BR"/>
        </a:p>
      </dgm:t>
    </dgm:pt>
    <dgm:pt modelId="{C96F523E-C6C6-4ABF-9534-9F5F0461B046}">
      <dgm:prSet/>
      <dgm:spPr/>
      <dgm:t>
        <a:bodyPr/>
        <a:lstStyle/>
        <a:p>
          <a:r>
            <a:rPr lang="pt-PT" dirty="0" smtClean="0"/>
            <a:t>Exibição dos resultados para apoio à decisão</a:t>
          </a:r>
          <a:endParaRPr lang="pt-BR" dirty="0"/>
        </a:p>
      </dgm:t>
    </dgm:pt>
    <dgm:pt modelId="{CFDC95B7-1476-48C1-916B-5B4EBC7E7265}" type="sibTrans" cxnId="{EC5732DC-B697-4600-AC30-0FEB641C3172}">
      <dgm:prSet/>
      <dgm:spPr/>
      <dgm:t>
        <a:bodyPr/>
        <a:lstStyle/>
        <a:p>
          <a:endParaRPr lang="pt-BR"/>
        </a:p>
      </dgm:t>
    </dgm:pt>
    <dgm:pt modelId="{81CF0774-2557-41FB-B3F8-28FED66C97D1}" type="parTrans" cxnId="{EC5732DC-B697-4600-AC30-0FEB641C3172}">
      <dgm:prSet/>
      <dgm:spPr/>
      <dgm:t>
        <a:bodyPr/>
        <a:lstStyle/>
        <a:p>
          <a:endParaRPr lang="pt-BR"/>
        </a:p>
      </dgm:t>
    </dgm:pt>
    <dgm:pt modelId="{21F1E58B-7E49-4A9F-A458-AD1D0556BD7C}">
      <dgm:prSet/>
      <dgm:spPr/>
      <dgm:t>
        <a:bodyPr/>
        <a:lstStyle/>
        <a:p>
          <a:r>
            <a:rPr lang="pt-PT" dirty="0" smtClean="0"/>
            <a:t>Treinamento e validação dos algoritmos de Machine Learning</a:t>
          </a:r>
          <a:endParaRPr lang="pt-BR" dirty="0"/>
        </a:p>
      </dgm:t>
    </dgm:pt>
    <dgm:pt modelId="{EDA061B5-8AB6-4F83-9374-55E00EDE52D8}" type="sibTrans" cxnId="{AA40D1FB-4C6D-474A-BA19-D2023CF264CE}">
      <dgm:prSet/>
      <dgm:spPr/>
      <dgm:t>
        <a:bodyPr/>
        <a:lstStyle/>
        <a:p>
          <a:endParaRPr lang="pt-BR"/>
        </a:p>
      </dgm:t>
    </dgm:pt>
    <dgm:pt modelId="{A9CA7E10-AD8D-4EE9-A635-2995EE84383D}" type="parTrans" cxnId="{AA40D1FB-4C6D-474A-BA19-D2023CF264CE}">
      <dgm:prSet/>
      <dgm:spPr/>
      <dgm:t>
        <a:bodyPr/>
        <a:lstStyle/>
        <a:p>
          <a:endParaRPr lang="pt-BR"/>
        </a:p>
      </dgm:t>
    </dgm:pt>
    <dgm:pt modelId="{790F3618-B678-4226-A54D-835B30A5F06A}">
      <dgm:prSet/>
      <dgm:spPr/>
      <dgm:t>
        <a:bodyPr/>
        <a:lstStyle/>
        <a:p>
          <a:r>
            <a:rPr lang="pt-PT" smtClean="0"/>
            <a:t>Visualização de padrões e correlações</a:t>
          </a:r>
          <a:endParaRPr lang="pt-BR"/>
        </a:p>
      </dgm:t>
    </dgm:pt>
    <dgm:pt modelId="{CF412DF5-469F-4650-AB58-0C84C97F21D1}" type="sibTrans" cxnId="{A7C69380-1C73-4A01-A577-81FA3B439B9F}">
      <dgm:prSet/>
      <dgm:spPr/>
      <dgm:t>
        <a:bodyPr/>
        <a:lstStyle/>
        <a:p>
          <a:endParaRPr lang="pt-BR"/>
        </a:p>
      </dgm:t>
    </dgm:pt>
    <dgm:pt modelId="{96D3067C-D765-4776-929C-3E8738F735CB}" type="parTrans" cxnId="{A7C69380-1C73-4A01-A577-81FA3B439B9F}">
      <dgm:prSet/>
      <dgm:spPr/>
      <dgm:t>
        <a:bodyPr/>
        <a:lstStyle/>
        <a:p>
          <a:endParaRPr lang="pt-BR"/>
        </a:p>
      </dgm:t>
    </dgm:pt>
    <dgm:pt modelId="{AEBD90DA-D760-4DD8-A9DD-859CC8F755AC}">
      <dgm:prSet/>
      <dgm:spPr/>
      <dgm:t>
        <a:bodyPr/>
        <a:lstStyle/>
        <a:p>
          <a:r>
            <a:rPr lang="pt-PT" dirty="0" smtClean="0"/>
            <a:t>Limpeza, normalização e transformação dos dados</a:t>
          </a:r>
          <a:endParaRPr lang="pt-BR" dirty="0"/>
        </a:p>
      </dgm:t>
    </dgm:pt>
    <dgm:pt modelId="{D327AD78-C38F-445E-8FB4-CF0FDC36FE30}" type="sibTrans" cxnId="{20DA92ED-79E1-4951-B076-D2FA66468530}">
      <dgm:prSet/>
      <dgm:spPr/>
      <dgm:t>
        <a:bodyPr/>
        <a:lstStyle/>
        <a:p>
          <a:endParaRPr lang="pt-BR"/>
        </a:p>
      </dgm:t>
    </dgm:pt>
    <dgm:pt modelId="{DE524EA7-9FE7-47BF-B11C-BE505C7C6F73}" type="parTrans" cxnId="{20DA92ED-79E1-4951-B076-D2FA66468530}">
      <dgm:prSet/>
      <dgm:spPr/>
      <dgm:t>
        <a:bodyPr/>
        <a:lstStyle/>
        <a:p>
          <a:endParaRPr lang="pt-BR"/>
        </a:p>
      </dgm:t>
    </dgm:pt>
    <dgm:pt modelId="{D910F810-7255-45CC-B8A7-26FAD706E4DC}">
      <dgm:prSet/>
      <dgm:spPr/>
      <dgm:t>
        <a:bodyPr/>
        <a:lstStyle/>
        <a:p>
          <a:r>
            <a:rPr lang="pt-PT" dirty="0" smtClean="0"/>
            <a:t>Extração de ficheiros CSV do INE e outras fontes governamentais.</a:t>
          </a:r>
          <a:endParaRPr lang="pt-BR" dirty="0"/>
        </a:p>
      </dgm:t>
    </dgm:pt>
    <dgm:pt modelId="{947B3019-AC38-4116-9636-819F9221DE60}" type="sibTrans" cxnId="{6B8DECA4-24A5-4182-8AC5-E3C7D7405FB6}">
      <dgm:prSet/>
      <dgm:spPr/>
      <dgm:t>
        <a:bodyPr/>
        <a:lstStyle/>
        <a:p>
          <a:endParaRPr lang="pt-BR"/>
        </a:p>
      </dgm:t>
    </dgm:pt>
    <dgm:pt modelId="{7BF1D440-BA32-4820-AD6D-615804874045}" type="parTrans" cxnId="{6B8DECA4-24A5-4182-8AC5-E3C7D7405FB6}">
      <dgm:prSet/>
      <dgm:spPr/>
      <dgm:t>
        <a:bodyPr/>
        <a:lstStyle/>
        <a:p>
          <a:endParaRPr lang="pt-BR"/>
        </a:p>
      </dgm:t>
    </dgm:pt>
    <dgm:pt modelId="{1F1BA4D6-AE34-4915-AB0D-89E4FD684E14}" type="pres">
      <dgm:prSet presAssocID="{D4440DCA-E6BA-4C6F-9594-B191F089881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2FC02A6F-870E-4AE9-9A56-7B73B763E9A3}" type="pres">
      <dgm:prSet presAssocID="{8BFE72BB-AFD1-4C6E-98DD-40C1DA22B394}" presName="composite" presStyleCnt="0"/>
      <dgm:spPr/>
    </dgm:pt>
    <dgm:pt modelId="{E704B844-7C90-40AD-AE3C-34DADB719882}" type="pres">
      <dgm:prSet presAssocID="{8BFE72BB-AFD1-4C6E-98DD-40C1DA22B394}" presName="par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2435FA5-D166-4760-AF9B-27DB9019037E}" type="pres">
      <dgm:prSet presAssocID="{8BFE72BB-AFD1-4C6E-98DD-40C1DA22B394}" presName="parSh" presStyleLbl="node1" presStyleIdx="0" presStyleCnt="5"/>
      <dgm:spPr/>
      <dgm:t>
        <a:bodyPr/>
        <a:lstStyle/>
        <a:p>
          <a:endParaRPr lang="pt-BR"/>
        </a:p>
      </dgm:t>
    </dgm:pt>
    <dgm:pt modelId="{09C61F3C-07B0-4C49-AB0B-EB8D74C69A36}" type="pres">
      <dgm:prSet presAssocID="{8BFE72BB-AFD1-4C6E-98DD-40C1DA22B394}" presName="desTx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B1640F-D988-476D-91CC-7F323B903EEF}" type="pres">
      <dgm:prSet presAssocID="{BB2FF377-3B88-4F56-A1A5-547B1651F6F5}" presName="sibTrans" presStyleLbl="sibTrans2D1" presStyleIdx="0" presStyleCnt="4"/>
      <dgm:spPr/>
      <dgm:t>
        <a:bodyPr/>
        <a:lstStyle/>
        <a:p>
          <a:endParaRPr lang="pt-BR"/>
        </a:p>
      </dgm:t>
    </dgm:pt>
    <dgm:pt modelId="{B5E4455A-E566-45E4-8FCF-1499001EA4A0}" type="pres">
      <dgm:prSet presAssocID="{BB2FF377-3B88-4F56-A1A5-547B1651F6F5}" presName="connTx" presStyleLbl="sibTrans2D1" presStyleIdx="0" presStyleCnt="4"/>
      <dgm:spPr/>
      <dgm:t>
        <a:bodyPr/>
        <a:lstStyle/>
        <a:p>
          <a:endParaRPr lang="pt-BR"/>
        </a:p>
      </dgm:t>
    </dgm:pt>
    <dgm:pt modelId="{DE58C94F-4237-4155-BE72-FA88956F7AC5}" type="pres">
      <dgm:prSet presAssocID="{E4DCC85D-40B5-401A-9F89-8543E884CEC7}" presName="composite" presStyleCnt="0"/>
      <dgm:spPr/>
    </dgm:pt>
    <dgm:pt modelId="{F4945C4D-18CB-4E0B-9EFF-212A4864D6E1}" type="pres">
      <dgm:prSet presAssocID="{E4DCC85D-40B5-401A-9F89-8543E884CEC7}" presName="par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2181E88-9BE2-4E8B-A3E6-633CBB54B565}" type="pres">
      <dgm:prSet presAssocID="{E4DCC85D-40B5-401A-9F89-8543E884CEC7}" presName="parSh" presStyleLbl="node1" presStyleIdx="1" presStyleCnt="5"/>
      <dgm:spPr/>
      <dgm:t>
        <a:bodyPr/>
        <a:lstStyle/>
        <a:p>
          <a:endParaRPr lang="pt-BR"/>
        </a:p>
      </dgm:t>
    </dgm:pt>
    <dgm:pt modelId="{58E34130-EF0C-457F-AA8F-112A45FAA9D8}" type="pres">
      <dgm:prSet presAssocID="{E4DCC85D-40B5-401A-9F89-8543E884CEC7}" presName="desTx" presStyleLbl="fgAcc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AA59EDA-2DEE-4F8E-B438-5AB9E4693D43}" type="pres">
      <dgm:prSet presAssocID="{35B0204E-F85B-4762-9702-91D9F54F45B5}" presName="sibTrans" presStyleLbl="sibTrans2D1" presStyleIdx="1" presStyleCnt="4"/>
      <dgm:spPr/>
      <dgm:t>
        <a:bodyPr/>
        <a:lstStyle/>
        <a:p>
          <a:endParaRPr lang="pt-BR"/>
        </a:p>
      </dgm:t>
    </dgm:pt>
    <dgm:pt modelId="{D5E9E8E8-5CB6-446E-AA62-8024EF576F9A}" type="pres">
      <dgm:prSet presAssocID="{35B0204E-F85B-4762-9702-91D9F54F45B5}" presName="connTx" presStyleLbl="sibTrans2D1" presStyleIdx="1" presStyleCnt="4"/>
      <dgm:spPr/>
      <dgm:t>
        <a:bodyPr/>
        <a:lstStyle/>
        <a:p>
          <a:endParaRPr lang="pt-BR"/>
        </a:p>
      </dgm:t>
    </dgm:pt>
    <dgm:pt modelId="{C61E481F-0567-4B23-9065-F8DBFCCF4EBC}" type="pres">
      <dgm:prSet presAssocID="{3B8D546D-2C1F-4A8C-B928-5CA1E28394A0}" presName="composite" presStyleCnt="0"/>
      <dgm:spPr/>
    </dgm:pt>
    <dgm:pt modelId="{2604809B-1809-42B5-AB5D-CE2454F221C7}" type="pres">
      <dgm:prSet presAssocID="{3B8D546D-2C1F-4A8C-B928-5CA1E28394A0}" presName="parTx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6E6D809-2E3C-47C9-BB2B-968A2AE078BF}" type="pres">
      <dgm:prSet presAssocID="{3B8D546D-2C1F-4A8C-B928-5CA1E28394A0}" presName="parSh" presStyleLbl="node1" presStyleIdx="2" presStyleCnt="5"/>
      <dgm:spPr/>
      <dgm:t>
        <a:bodyPr/>
        <a:lstStyle/>
        <a:p>
          <a:endParaRPr lang="pt-BR"/>
        </a:p>
      </dgm:t>
    </dgm:pt>
    <dgm:pt modelId="{9159C2DE-FFBC-4E6D-8E72-9DAC9E688564}" type="pres">
      <dgm:prSet presAssocID="{3B8D546D-2C1F-4A8C-B928-5CA1E28394A0}" presName="desTx" presStyleLbl="fgAcc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FEEEDFC-9CED-4A93-9245-08C517FC4E35}" type="pres">
      <dgm:prSet presAssocID="{6563E6B3-2A8A-4E36-853B-B65568D7FD12}" presName="sibTrans" presStyleLbl="sibTrans2D1" presStyleIdx="2" presStyleCnt="4"/>
      <dgm:spPr/>
      <dgm:t>
        <a:bodyPr/>
        <a:lstStyle/>
        <a:p>
          <a:endParaRPr lang="pt-BR"/>
        </a:p>
      </dgm:t>
    </dgm:pt>
    <dgm:pt modelId="{93C7B789-DF6E-4991-831E-69183C1DD81D}" type="pres">
      <dgm:prSet presAssocID="{6563E6B3-2A8A-4E36-853B-B65568D7FD12}" presName="connTx" presStyleLbl="sibTrans2D1" presStyleIdx="2" presStyleCnt="4"/>
      <dgm:spPr/>
      <dgm:t>
        <a:bodyPr/>
        <a:lstStyle/>
        <a:p>
          <a:endParaRPr lang="pt-BR"/>
        </a:p>
      </dgm:t>
    </dgm:pt>
    <dgm:pt modelId="{FED25B90-BF58-48C9-9B4C-C283DD21439C}" type="pres">
      <dgm:prSet presAssocID="{45322929-82B9-45B5-8E46-78D890D657F3}" presName="composite" presStyleCnt="0"/>
      <dgm:spPr/>
    </dgm:pt>
    <dgm:pt modelId="{F486CBA7-6838-431F-B75F-3AC6D838FDC9}" type="pres">
      <dgm:prSet presAssocID="{45322929-82B9-45B5-8E46-78D890D657F3}" presName="parTx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796F53B-C12A-4ED1-8808-ED7F8F35989E}" type="pres">
      <dgm:prSet presAssocID="{45322929-82B9-45B5-8E46-78D890D657F3}" presName="parSh" presStyleLbl="node1" presStyleIdx="3" presStyleCnt="5"/>
      <dgm:spPr/>
      <dgm:t>
        <a:bodyPr/>
        <a:lstStyle/>
        <a:p>
          <a:endParaRPr lang="pt-BR"/>
        </a:p>
      </dgm:t>
    </dgm:pt>
    <dgm:pt modelId="{B6D2401A-2BF9-42F3-8013-8A65B1536B95}" type="pres">
      <dgm:prSet presAssocID="{45322929-82B9-45B5-8E46-78D890D657F3}" presName="desTx" presStyleLbl="fgAcc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012D1E3-5921-439A-88D5-3D5D8D725B4B}" type="pres">
      <dgm:prSet presAssocID="{8D9659C0-5E9D-4CDA-9266-CBD33864B4E0}" presName="sibTrans" presStyleLbl="sibTrans2D1" presStyleIdx="3" presStyleCnt="4"/>
      <dgm:spPr/>
      <dgm:t>
        <a:bodyPr/>
        <a:lstStyle/>
        <a:p>
          <a:endParaRPr lang="pt-BR"/>
        </a:p>
      </dgm:t>
    </dgm:pt>
    <dgm:pt modelId="{AA515229-6D00-4410-841A-081DC707132D}" type="pres">
      <dgm:prSet presAssocID="{8D9659C0-5E9D-4CDA-9266-CBD33864B4E0}" presName="connTx" presStyleLbl="sibTrans2D1" presStyleIdx="3" presStyleCnt="4"/>
      <dgm:spPr/>
      <dgm:t>
        <a:bodyPr/>
        <a:lstStyle/>
        <a:p>
          <a:endParaRPr lang="pt-BR"/>
        </a:p>
      </dgm:t>
    </dgm:pt>
    <dgm:pt modelId="{B0893933-0058-4809-BFBB-1FA24DBA2DDA}" type="pres">
      <dgm:prSet presAssocID="{3E7ECF5C-0B31-4EE8-BBE0-7D982C96BE92}" presName="composite" presStyleCnt="0"/>
      <dgm:spPr/>
    </dgm:pt>
    <dgm:pt modelId="{FFDC49FD-7681-4669-945D-4E9EEF730897}" type="pres">
      <dgm:prSet presAssocID="{3E7ECF5C-0B31-4EE8-BBE0-7D982C96BE92}" presName="parTx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7D136DF-C11D-4F17-9DBD-D9B4000F3D44}" type="pres">
      <dgm:prSet presAssocID="{3E7ECF5C-0B31-4EE8-BBE0-7D982C96BE92}" presName="parSh" presStyleLbl="node1" presStyleIdx="4" presStyleCnt="5"/>
      <dgm:spPr/>
      <dgm:t>
        <a:bodyPr/>
        <a:lstStyle/>
        <a:p>
          <a:endParaRPr lang="pt-BR"/>
        </a:p>
      </dgm:t>
    </dgm:pt>
    <dgm:pt modelId="{F034CF9A-F972-44B0-A33D-F56672434067}" type="pres">
      <dgm:prSet presAssocID="{3E7ECF5C-0B31-4EE8-BBE0-7D982C96BE92}" presName="desTx" presStyleLbl="fgAcc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24E0435-04DD-4EA9-82D1-DE100BABEDF3}" type="presOf" srcId="{8D9659C0-5E9D-4CDA-9266-CBD33864B4E0}" destId="{AA515229-6D00-4410-841A-081DC707132D}" srcOrd="1" destOrd="0" presId="urn:microsoft.com/office/officeart/2005/8/layout/process3"/>
    <dgm:cxn modelId="{20DA92ED-79E1-4951-B076-D2FA66468530}" srcId="{E4DCC85D-40B5-401A-9F89-8543E884CEC7}" destId="{AEBD90DA-D760-4DD8-A9DD-859CC8F755AC}" srcOrd="0" destOrd="0" parTransId="{DE524EA7-9FE7-47BF-B11C-BE505C7C6F73}" sibTransId="{D327AD78-C38F-445E-8FB4-CF0FDC36FE30}"/>
    <dgm:cxn modelId="{2D8E4AFB-D19E-486C-BE2B-8B334D65D3E6}" type="presOf" srcId="{E4DCC85D-40B5-401A-9F89-8543E884CEC7}" destId="{F4945C4D-18CB-4E0B-9EFF-212A4864D6E1}" srcOrd="0" destOrd="0" presId="urn:microsoft.com/office/officeart/2005/8/layout/process3"/>
    <dgm:cxn modelId="{F2D00DC5-1A7A-4A41-B4A9-80140B91AD5F}" type="presOf" srcId="{790F3618-B678-4226-A54D-835B30A5F06A}" destId="{9159C2DE-FFBC-4E6D-8E72-9DAC9E688564}" srcOrd="0" destOrd="0" presId="urn:microsoft.com/office/officeart/2005/8/layout/process3"/>
    <dgm:cxn modelId="{6B315E7F-6862-4211-BBF9-0CB995E74775}" srcId="{D4440DCA-E6BA-4C6F-9594-B191F0898814}" destId="{8BFE72BB-AFD1-4C6E-98DD-40C1DA22B394}" srcOrd="0" destOrd="0" parTransId="{E8341DF4-C373-4738-97E8-A22E8B3DA1A1}" sibTransId="{BB2FF377-3B88-4F56-A1A5-547B1651F6F5}"/>
    <dgm:cxn modelId="{246A1647-7BD5-485B-AB08-31D88E6C5B4B}" type="presOf" srcId="{D910F810-7255-45CC-B8A7-26FAD706E4DC}" destId="{09C61F3C-07B0-4C49-AB0B-EB8D74C69A36}" srcOrd="0" destOrd="0" presId="urn:microsoft.com/office/officeart/2005/8/layout/process3"/>
    <dgm:cxn modelId="{4A4511FD-DF26-43F1-9AC7-F549086E1207}" srcId="{D4440DCA-E6BA-4C6F-9594-B191F0898814}" destId="{3B8D546D-2C1F-4A8C-B928-5CA1E28394A0}" srcOrd="2" destOrd="0" parTransId="{86AEAE8D-EF54-43BF-8BF1-1F2C1397E4F3}" sibTransId="{6563E6B3-2A8A-4E36-853B-B65568D7FD12}"/>
    <dgm:cxn modelId="{C8BE9FFA-96F7-463C-9525-18EE9EB30048}" type="presOf" srcId="{35B0204E-F85B-4762-9702-91D9F54F45B5}" destId="{6AA59EDA-2DEE-4F8E-B438-5AB9E4693D43}" srcOrd="0" destOrd="0" presId="urn:microsoft.com/office/officeart/2005/8/layout/process3"/>
    <dgm:cxn modelId="{8D46DBB0-3C02-4E6D-BE94-B1EB0D5284FA}" srcId="{D4440DCA-E6BA-4C6F-9594-B191F0898814}" destId="{45322929-82B9-45B5-8E46-78D890D657F3}" srcOrd="3" destOrd="0" parTransId="{9BCA1FE8-02A0-46A7-9D24-8822214C7F11}" sibTransId="{8D9659C0-5E9D-4CDA-9266-CBD33864B4E0}"/>
    <dgm:cxn modelId="{45485B7C-CC6F-4E2D-BD98-1C536CECDDB0}" type="presOf" srcId="{D4440DCA-E6BA-4C6F-9594-B191F0898814}" destId="{1F1BA4D6-AE34-4915-AB0D-89E4FD684E14}" srcOrd="0" destOrd="0" presId="urn:microsoft.com/office/officeart/2005/8/layout/process3"/>
    <dgm:cxn modelId="{0F4FC8FF-8568-479A-99EE-6092F58E8805}" type="presOf" srcId="{C96F523E-C6C6-4ABF-9534-9F5F0461B046}" destId="{F034CF9A-F972-44B0-A33D-F56672434067}" srcOrd="0" destOrd="0" presId="urn:microsoft.com/office/officeart/2005/8/layout/process3"/>
    <dgm:cxn modelId="{D3914781-AA56-4F90-B732-7120EB0B8DF7}" type="presOf" srcId="{6563E6B3-2A8A-4E36-853B-B65568D7FD12}" destId="{93C7B789-DF6E-4991-831E-69183C1DD81D}" srcOrd="1" destOrd="0" presId="urn:microsoft.com/office/officeart/2005/8/layout/process3"/>
    <dgm:cxn modelId="{932DDAA3-5B24-47B3-B522-B04123B564A0}" srcId="{D4440DCA-E6BA-4C6F-9594-B191F0898814}" destId="{E4DCC85D-40B5-401A-9F89-8543E884CEC7}" srcOrd="1" destOrd="0" parTransId="{AA91AD46-4A66-4A8A-AEA4-5DF28A891442}" sibTransId="{35B0204E-F85B-4762-9702-91D9F54F45B5}"/>
    <dgm:cxn modelId="{116151E8-36C7-4AE6-BD61-E0790A5719AA}" type="presOf" srcId="{21F1E58B-7E49-4A9F-A458-AD1D0556BD7C}" destId="{B6D2401A-2BF9-42F3-8013-8A65B1536B95}" srcOrd="0" destOrd="0" presId="urn:microsoft.com/office/officeart/2005/8/layout/process3"/>
    <dgm:cxn modelId="{FC9FF5EF-EF94-4FB1-BEEB-50F22AF3F2F1}" type="presOf" srcId="{3E7ECF5C-0B31-4EE8-BBE0-7D982C96BE92}" destId="{FFDC49FD-7681-4669-945D-4E9EEF730897}" srcOrd="0" destOrd="0" presId="urn:microsoft.com/office/officeart/2005/8/layout/process3"/>
    <dgm:cxn modelId="{9FAD035D-8485-4203-A921-39BA5E47A77B}" type="presOf" srcId="{8BFE72BB-AFD1-4C6E-98DD-40C1DA22B394}" destId="{E704B844-7C90-40AD-AE3C-34DADB719882}" srcOrd="0" destOrd="0" presId="urn:microsoft.com/office/officeart/2005/8/layout/process3"/>
    <dgm:cxn modelId="{637AA900-76A7-419B-8B00-AC1258D229FA}" type="presOf" srcId="{3B8D546D-2C1F-4A8C-B928-5CA1E28394A0}" destId="{2604809B-1809-42B5-AB5D-CE2454F221C7}" srcOrd="0" destOrd="0" presId="urn:microsoft.com/office/officeart/2005/8/layout/process3"/>
    <dgm:cxn modelId="{5A136B5B-004B-4F44-9B5F-5D0DB141FCD2}" srcId="{D4440DCA-E6BA-4C6F-9594-B191F0898814}" destId="{3E7ECF5C-0B31-4EE8-BBE0-7D982C96BE92}" srcOrd="4" destOrd="0" parTransId="{154EF009-48F1-4756-89A5-B0A5107339BB}" sibTransId="{10214E6E-9016-4845-A142-A302DD2D8A03}"/>
    <dgm:cxn modelId="{101E05D8-A68E-4886-B669-2CF8C5A3AC67}" type="presOf" srcId="{BB2FF377-3B88-4F56-A1A5-547B1651F6F5}" destId="{ABB1640F-D988-476D-91CC-7F323B903EEF}" srcOrd="0" destOrd="0" presId="urn:microsoft.com/office/officeart/2005/8/layout/process3"/>
    <dgm:cxn modelId="{0C3EF196-230A-4A86-B9C8-2B2E0C7C2256}" type="presOf" srcId="{6563E6B3-2A8A-4E36-853B-B65568D7FD12}" destId="{FFEEEDFC-9CED-4A93-9245-08C517FC4E35}" srcOrd="0" destOrd="0" presId="urn:microsoft.com/office/officeart/2005/8/layout/process3"/>
    <dgm:cxn modelId="{4D9CA818-321F-4957-85A5-9219A2136A4E}" type="presOf" srcId="{8D9659C0-5E9D-4CDA-9266-CBD33864B4E0}" destId="{F012D1E3-5921-439A-88D5-3D5D8D725B4B}" srcOrd="0" destOrd="0" presId="urn:microsoft.com/office/officeart/2005/8/layout/process3"/>
    <dgm:cxn modelId="{6B8DECA4-24A5-4182-8AC5-E3C7D7405FB6}" srcId="{8BFE72BB-AFD1-4C6E-98DD-40C1DA22B394}" destId="{D910F810-7255-45CC-B8A7-26FAD706E4DC}" srcOrd="0" destOrd="0" parTransId="{7BF1D440-BA32-4820-AD6D-615804874045}" sibTransId="{947B3019-AC38-4116-9636-819F9221DE60}"/>
    <dgm:cxn modelId="{F46D9021-AA43-456D-ACB6-88F8E72E2C8C}" type="presOf" srcId="{35B0204E-F85B-4762-9702-91D9F54F45B5}" destId="{D5E9E8E8-5CB6-446E-AA62-8024EF576F9A}" srcOrd="1" destOrd="0" presId="urn:microsoft.com/office/officeart/2005/8/layout/process3"/>
    <dgm:cxn modelId="{A7C69380-1C73-4A01-A577-81FA3B439B9F}" srcId="{3B8D546D-2C1F-4A8C-B928-5CA1E28394A0}" destId="{790F3618-B678-4226-A54D-835B30A5F06A}" srcOrd="0" destOrd="0" parTransId="{96D3067C-D765-4776-929C-3E8738F735CB}" sibTransId="{CF412DF5-469F-4650-AB58-0C84C97F21D1}"/>
    <dgm:cxn modelId="{AA40D1FB-4C6D-474A-BA19-D2023CF264CE}" srcId="{45322929-82B9-45B5-8E46-78D890D657F3}" destId="{21F1E58B-7E49-4A9F-A458-AD1D0556BD7C}" srcOrd="0" destOrd="0" parTransId="{A9CA7E10-AD8D-4EE9-A635-2995EE84383D}" sibTransId="{EDA061B5-8AB6-4F83-9374-55E00EDE52D8}"/>
    <dgm:cxn modelId="{876A4B26-5752-4D06-8745-FF74B24CB3C0}" type="presOf" srcId="{E4DCC85D-40B5-401A-9F89-8543E884CEC7}" destId="{12181E88-9BE2-4E8B-A3E6-633CBB54B565}" srcOrd="1" destOrd="0" presId="urn:microsoft.com/office/officeart/2005/8/layout/process3"/>
    <dgm:cxn modelId="{FC6F1338-47F3-4798-9F4B-FC97E1A82C27}" type="presOf" srcId="{45322929-82B9-45B5-8E46-78D890D657F3}" destId="{6796F53B-C12A-4ED1-8808-ED7F8F35989E}" srcOrd="1" destOrd="0" presId="urn:microsoft.com/office/officeart/2005/8/layout/process3"/>
    <dgm:cxn modelId="{EC5732DC-B697-4600-AC30-0FEB641C3172}" srcId="{3E7ECF5C-0B31-4EE8-BBE0-7D982C96BE92}" destId="{C96F523E-C6C6-4ABF-9534-9F5F0461B046}" srcOrd="0" destOrd="0" parTransId="{81CF0774-2557-41FB-B3F8-28FED66C97D1}" sibTransId="{CFDC95B7-1476-48C1-916B-5B4EBC7E7265}"/>
    <dgm:cxn modelId="{246C1744-75AE-4480-B97A-741AA6301E9D}" type="presOf" srcId="{45322929-82B9-45B5-8E46-78D890D657F3}" destId="{F486CBA7-6838-431F-B75F-3AC6D838FDC9}" srcOrd="0" destOrd="0" presId="urn:microsoft.com/office/officeart/2005/8/layout/process3"/>
    <dgm:cxn modelId="{40712490-862E-44D4-8129-12DDBE205B5B}" type="presOf" srcId="{AEBD90DA-D760-4DD8-A9DD-859CC8F755AC}" destId="{58E34130-EF0C-457F-AA8F-112A45FAA9D8}" srcOrd="0" destOrd="0" presId="urn:microsoft.com/office/officeart/2005/8/layout/process3"/>
    <dgm:cxn modelId="{752DB53B-0288-48A5-8ED7-956DA7C8D512}" type="presOf" srcId="{3E7ECF5C-0B31-4EE8-BBE0-7D982C96BE92}" destId="{07D136DF-C11D-4F17-9DBD-D9B4000F3D44}" srcOrd="1" destOrd="0" presId="urn:microsoft.com/office/officeart/2005/8/layout/process3"/>
    <dgm:cxn modelId="{B9DD4F2D-EB6C-4F51-A533-CBA90D509E1A}" type="presOf" srcId="{3B8D546D-2C1F-4A8C-B928-5CA1E28394A0}" destId="{C6E6D809-2E3C-47C9-BB2B-968A2AE078BF}" srcOrd="1" destOrd="0" presId="urn:microsoft.com/office/officeart/2005/8/layout/process3"/>
    <dgm:cxn modelId="{B7A2A197-3728-4385-8F23-9D2EE4C6C07F}" type="presOf" srcId="{8BFE72BB-AFD1-4C6E-98DD-40C1DA22B394}" destId="{E2435FA5-D166-4760-AF9B-27DB9019037E}" srcOrd="1" destOrd="0" presId="urn:microsoft.com/office/officeart/2005/8/layout/process3"/>
    <dgm:cxn modelId="{3E6B1BAF-EDFE-4417-9AD9-CFDF66305271}" type="presOf" srcId="{BB2FF377-3B88-4F56-A1A5-547B1651F6F5}" destId="{B5E4455A-E566-45E4-8FCF-1499001EA4A0}" srcOrd="1" destOrd="0" presId="urn:microsoft.com/office/officeart/2005/8/layout/process3"/>
    <dgm:cxn modelId="{547DAC0D-C318-433B-A1A1-A71F2BA4C8E8}" type="presParOf" srcId="{1F1BA4D6-AE34-4915-AB0D-89E4FD684E14}" destId="{2FC02A6F-870E-4AE9-9A56-7B73B763E9A3}" srcOrd="0" destOrd="0" presId="urn:microsoft.com/office/officeart/2005/8/layout/process3"/>
    <dgm:cxn modelId="{4D763539-3386-417C-ABAC-C8614043FF17}" type="presParOf" srcId="{2FC02A6F-870E-4AE9-9A56-7B73B763E9A3}" destId="{E704B844-7C90-40AD-AE3C-34DADB719882}" srcOrd="0" destOrd="0" presId="urn:microsoft.com/office/officeart/2005/8/layout/process3"/>
    <dgm:cxn modelId="{2AAA5B98-8247-43D2-A87A-0D64DBF7B650}" type="presParOf" srcId="{2FC02A6F-870E-4AE9-9A56-7B73B763E9A3}" destId="{E2435FA5-D166-4760-AF9B-27DB9019037E}" srcOrd="1" destOrd="0" presId="urn:microsoft.com/office/officeart/2005/8/layout/process3"/>
    <dgm:cxn modelId="{499C1E32-F9F7-4140-912E-C704ADBA4B82}" type="presParOf" srcId="{2FC02A6F-870E-4AE9-9A56-7B73B763E9A3}" destId="{09C61F3C-07B0-4C49-AB0B-EB8D74C69A36}" srcOrd="2" destOrd="0" presId="urn:microsoft.com/office/officeart/2005/8/layout/process3"/>
    <dgm:cxn modelId="{B5A4E707-F55F-4B29-A74D-69EBC29A6598}" type="presParOf" srcId="{1F1BA4D6-AE34-4915-AB0D-89E4FD684E14}" destId="{ABB1640F-D988-476D-91CC-7F323B903EEF}" srcOrd="1" destOrd="0" presId="urn:microsoft.com/office/officeart/2005/8/layout/process3"/>
    <dgm:cxn modelId="{525F18D3-AB1F-4208-A80E-6283117188F7}" type="presParOf" srcId="{ABB1640F-D988-476D-91CC-7F323B903EEF}" destId="{B5E4455A-E566-45E4-8FCF-1499001EA4A0}" srcOrd="0" destOrd="0" presId="urn:microsoft.com/office/officeart/2005/8/layout/process3"/>
    <dgm:cxn modelId="{513CCF3B-86C5-43B1-84BF-AB6C625DC759}" type="presParOf" srcId="{1F1BA4D6-AE34-4915-AB0D-89E4FD684E14}" destId="{DE58C94F-4237-4155-BE72-FA88956F7AC5}" srcOrd="2" destOrd="0" presId="urn:microsoft.com/office/officeart/2005/8/layout/process3"/>
    <dgm:cxn modelId="{D1C323DC-3289-44B9-B503-E10E3C18F3A9}" type="presParOf" srcId="{DE58C94F-4237-4155-BE72-FA88956F7AC5}" destId="{F4945C4D-18CB-4E0B-9EFF-212A4864D6E1}" srcOrd="0" destOrd="0" presId="urn:microsoft.com/office/officeart/2005/8/layout/process3"/>
    <dgm:cxn modelId="{8591425A-8291-4F46-83A9-5A61B51960F9}" type="presParOf" srcId="{DE58C94F-4237-4155-BE72-FA88956F7AC5}" destId="{12181E88-9BE2-4E8B-A3E6-633CBB54B565}" srcOrd="1" destOrd="0" presId="urn:microsoft.com/office/officeart/2005/8/layout/process3"/>
    <dgm:cxn modelId="{F8582C90-75F1-476B-834D-C9D72A2C3EBC}" type="presParOf" srcId="{DE58C94F-4237-4155-BE72-FA88956F7AC5}" destId="{58E34130-EF0C-457F-AA8F-112A45FAA9D8}" srcOrd="2" destOrd="0" presId="urn:microsoft.com/office/officeart/2005/8/layout/process3"/>
    <dgm:cxn modelId="{8CA9F06A-1218-408D-89EB-6B0629D8CA0A}" type="presParOf" srcId="{1F1BA4D6-AE34-4915-AB0D-89E4FD684E14}" destId="{6AA59EDA-2DEE-4F8E-B438-5AB9E4693D43}" srcOrd="3" destOrd="0" presId="urn:microsoft.com/office/officeart/2005/8/layout/process3"/>
    <dgm:cxn modelId="{FE3788F6-363B-4C45-81D4-98A7DCD7FAB9}" type="presParOf" srcId="{6AA59EDA-2DEE-4F8E-B438-5AB9E4693D43}" destId="{D5E9E8E8-5CB6-446E-AA62-8024EF576F9A}" srcOrd="0" destOrd="0" presId="urn:microsoft.com/office/officeart/2005/8/layout/process3"/>
    <dgm:cxn modelId="{46229779-E70D-4D71-A3EA-4A7446E4BC55}" type="presParOf" srcId="{1F1BA4D6-AE34-4915-AB0D-89E4FD684E14}" destId="{C61E481F-0567-4B23-9065-F8DBFCCF4EBC}" srcOrd="4" destOrd="0" presId="urn:microsoft.com/office/officeart/2005/8/layout/process3"/>
    <dgm:cxn modelId="{5D29BD16-FCE8-483C-89FB-BA197396A595}" type="presParOf" srcId="{C61E481F-0567-4B23-9065-F8DBFCCF4EBC}" destId="{2604809B-1809-42B5-AB5D-CE2454F221C7}" srcOrd="0" destOrd="0" presId="urn:microsoft.com/office/officeart/2005/8/layout/process3"/>
    <dgm:cxn modelId="{82D05401-0477-491C-9A98-917217FAA5B2}" type="presParOf" srcId="{C61E481F-0567-4B23-9065-F8DBFCCF4EBC}" destId="{C6E6D809-2E3C-47C9-BB2B-968A2AE078BF}" srcOrd="1" destOrd="0" presId="urn:microsoft.com/office/officeart/2005/8/layout/process3"/>
    <dgm:cxn modelId="{7EED46AE-A661-4CA0-831F-1396C0FB4724}" type="presParOf" srcId="{C61E481F-0567-4B23-9065-F8DBFCCF4EBC}" destId="{9159C2DE-FFBC-4E6D-8E72-9DAC9E688564}" srcOrd="2" destOrd="0" presId="urn:microsoft.com/office/officeart/2005/8/layout/process3"/>
    <dgm:cxn modelId="{9404075B-4C4A-4A2A-80DE-43FCB8C26B82}" type="presParOf" srcId="{1F1BA4D6-AE34-4915-AB0D-89E4FD684E14}" destId="{FFEEEDFC-9CED-4A93-9245-08C517FC4E35}" srcOrd="5" destOrd="0" presId="urn:microsoft.com/office/officeart/2005/8/layout/process3"/>
    <dgm:cxn modelId="{3B825C80-36D3-4AF8-A74A-48C907542254}" type="presParOf" srcId="{FFEEEDFC-9CED-4A93-9245-08C517FC4E35}" destId="{93C7B789-DF6E-4991-831E-69183C1DD81D}" srcOrd="0" destOrd="0" presId="urn:microsoft.com/office/officeart/2005/8/layout/process3"/>
    <dgm:cxn modelId="{E3DA5EFD-C212-4A5C-B13D-672525445AF4}" type="presParOf" srcId="{1F1BA4D6-AE34-4915-AB0D-89E4FD684E14}" destId="{FED25B90-BF58-48C9-9B4C-C283DD21439C}" srcOrd="6" destOrd="0" presId="urn:microsoft.com/office/officeart/2005/8/layout/process3"/>
    <dgm:cxn modelId="{58CBA84E-F82B-40D7-80F1-1A9440139E69}" type="presParOf" srcId="{FED25B90-BF58-48C9-9B4C-C283DD21439C}" destId="{F486CBA7-6838-431F-B75F-3AC6D838FDC9}" srcOrd="0" destOrd="0" presId="urn:microsoft.com/office/officeart/2005/8/layout/process3"/>
    <dgm:cxn modelId="{E2947744-FB01-4D94-9A10-13F74FC65F39}" type="presParOf" srcId="{FED25B90-BF58-48C9-9B4C-C283DD21439C}" destId="{6796F53B-C12A-4ED1-8808-ED7F8F35989E}" srcOrd="1" destOrd="0" presId="urn:microsoft.com/office/officeart/2005/8/layout/process3"/>
    <dgm:cxn modelId="{464A38B6-A107-4AC4-9BF4-2F0B5380BE1B}" type="presParOf" srcId="{FED25B90-BF58-48C9-9B4C-C283DD21439C}" destId="{B6D2401A-2BF9-42F3-8013-8A65B1536B95}" srcOrd="2" destOrd="0" presId="urn:microsoft.com/office/officeart/2005/8/layout/process3"/>
    <dgm:cxn modelId="{DA5413B1-BAFE-4F39-B967-EE2B9022EC90}" type="presParOf" srcId="{1F1BA4D6-AE34-4915-AB0D-89E4FD684E14}" destId="{F012D1E3-5921-439A-88D5-3D5D8D725B4B}" srcOrd="7" destOrd="0" presId="urn:microsoft.com/office/officeart/2005/8/layout/process3"/>
    <dgm:cxn modelId="{722B640B-5561-41E7-AFC7-277AE1EF524F}" type="presParOf" srcId="{F012D1E3-5921-439A-88D5-3D5D8D725B4B}" destId="{AA515229-6D00-4410-841A-081DC707132D}" srcOrd="0" destOrd="0" presId="urn:microsoft.com/office/officeart/2005/8/layout/process3"/>
    <dgm:cxn modelId="{5A3FA557-16EA-4F08-8497-7FF1C8870FD4}" type="presParOf" srcId="{1F1BA4D6-AE34-4915-AB0D-89E4FD684E14}" destId="{B0893933-0058-4809-BFBB-1FA24DBA2DDA}" srcOrd="8" destOrd="0" presId="urn:microsoft.com/office/officeart/2005/8/layout/process3"/>
    <dgm:cxn modelId="{A1B96D1E-75DF-4E5B-B768-21571FB8F438}" type="presParOf" srcId="{B0893933-0058-4809-BFBB-1FA24DBA2DDA}" destId="{FFDC49FD-7681-4669-945D-4E9EEF730897}" srcOrd="0" destOrd="0" presId="urn:microsoft.com/office/officeart/2005/8/layout/process3"/>
    <dgm:cxn modelId="{3C3A360D-4F92-462C-8160-E92CCB3D488F}" type="presParOf" srcId="{B0893933-0058-4809-BFBB-1FA24DBA2DDA}" destId="{07D136DF-C11D-4F17-9DBD-D9B4000F3D44}" srcOrd="1" destOrd="0" presId="urn:microsoft.com/office/officeart/2005/8/layout/process3"/>
    <dgm:cxn modelId="{60D9179C-1999-4751-AD3F-719F82A565D5}" type="presParOf" srcId="{B0893933-0058-4809-BFBB-1FA24DBA2DDA}" destId="{F034CF9A-F972-44B0-A33D-F5667243406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35FA5-D166-4760-AF9B-27DB9019037E}">
      <dsp:nvSpPr>
        <dsp:cNvPr id="0" name=""/>
        <dsp:cNvSpPr/>
      </dsp:nvSpPr>
      <dsp:spPr>
        <a:xfrm>
          <a:off x="6312" y="1076783"/>
          <a:ext cx="1424203" cy="617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100" b="0" i="0" kern="1200" baseline="0" smtClean="0"/>
            <a:t>Coleta de Dados</a:t>
          </a:r>
          <a:endParaRPr lang="pt-PT" sz="1100" kern="1200" dirty="0"/>
        </a:p>
      </dsp:txBody>
      <dsp:txXfrm>
        <a:off x="6312" y="1076783"/>
        <a:ext cx="1424203" cy="411630"/>
      </dsp:txXfrm>
    </dsp:sp>
    <dsp:sp modelId="{09C61F3C-07B0-4C49-AB0B-EB8D74C69A36}">
      <dsp:nvSpPr>
        <dsp:cNvPr id="0" name=""/>
        <dsp:cNvSpPr/>
      </dsp:nvSpPr>
      <dsp:spPr>
        <a:xfrm>
          <a:off x="298016" y="1488414"/>
          <a:ext cx="1424203" cy="95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100" kern="1200" dirty="0" smtClean="0"/>
            <a:t>Extração de ficheiros CSV do INE e outras fontes governamentais.</a:t>
          </a:r>
          <a:endParaRPr lang="pt-BR" sz="1100" kern="1200" dirty="0"/>
        </a:p>
      </dsp:txBody>
      <dsp:txXfrm>
        <a:off x="325852" y="1516250"/>
        <a:ext cx="1368531" cy="894728"/>
      </dsp:txXfrm>
    </dsp:sp>
    <dsp:sp modelId="{ABB1640F-D988-476D-91CC-7F323B903EEF}">
      <dsp:nvSpPr>
        <dsp:cNvPr id="0" name=""/>
        <dsp:cNvSpPr/>
      </dsp:nvSpPr>
      <dsp:spPr>
        <a:xfrm>
          <a:off x="1646419" y="1105306"/>
          <a:ext cx="457716" cy="354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900" kern="1200"/>
        </a:p>
      </dsp:txBody>
      <dsp:txXfrm>
        <a:off x="1646419" y="1176223"/>
        <a:ext cx="351341" cy="212751"/>
      </dsp:txXfrm>
    </dsp:sp>
    <dsp:sp modelId="{12181E88-9BE2-4E8B-A3E6-633CBB54B565}">
      <dsp:nvSpPr>
        <dsp:cNvPr id="0" name=""/>
        <dsp:cNvSpPr/>
      </dsp:nvSpPr>
      <dsp:spPr>
        <a:xfrm>
          <a:off x="2294131" y="1076783"/>
          <a:ext cx="1424203" cy="6174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100" b="1" kern="1200" dirty="0" smtClean="0"/>
            <a:t>Pré-Processamento</a:t>
          </a:r>
          <a:endParaRPr lang="pt-PT" sz="1100" kern="1200" dirty="0"/>
        </a:p>
      </dsp:txBody>
      <dsp:txXfrm>
        <a:off x="2294131" y="1076783"/>
        <a:ext cx="1424203" cy="411630"/>
      </dsp:txXfrm>
    </dsp:sp>
    <dsp:sp modelId="{58E34130-EF0C-457F-AA8F-112A45FAA9D8}">
      <dsp:nvSpPr>
        <dsp:cNvPr id="0" name=""/>
        <dsp:cNvSpPr/>
      </dsp:nvSpPr>
      <dsp:spPr>
        <a:xfrm>
          <a:off x="2585836" y="1488414"/>
          <a:ext cx="1424203" cy="95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100" kern="1200" dirty="0" smtClean="0"/>
            <a:t>Limpeza, normalização e transformação dos dados</a:t>
          </a:r>
          <a:endParaRPr lang="pt-BR" sz="1100" kern="1200" dirty="0"/>
        </a:p>
      </dsp:txBody>
      <dsp:txXfrm>
        <a:off x="2613672" y="1516250"/>
        <a:ext cx="1368531" cy="894728"/>
      </dsp:txXfrm>
    </dsp:sp>
    <dsp:sp modelId="{6AA59EDA-2DEE-4F8E-B438-5AB9E4693D43}">
      <dsp:nvSpPr>
        <dsp:cNvPr id="0" name=""/>
        <dsp:cNvSpPr/>
      </dsp:nvSpPr>
      <dsp:spPr>
        <a:xfrm>
          <a:off x="3934239" y="1105306"/>
          <a:ext cx="457716" cy="354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900" kern="1200"/>
        </a:p>
      </dsp:txBody>
      <dsp:txXfrm>
        <a:off x="3934239" y="1176223"/>
        <a:ext cx="351341" cy="212751"/>
      </dsp:txXfrm>
    </dsp:sp>
    <dsp:sp modelId="{C6E6D809-2E3C-47C9-BB2B-968A2AE078BF}">
      <dsp:nvSpPr>
        <dsp:cNvPr id="0" name=""/>
        <dsp:cNvSpPr/>
      </dsp:nvSpPr>
      <dsp:spPr>
        <a:xfrm>
          <a:off x="4581951" y="1076783"/>
          <a:ext cx="1424203" cy="6174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100" b="1" kern="1200" dirty="0" smtClean="0"/>
            <a:t>Análise Exploratória (EDA)</a:t>
          </a:r>
          <a:endParaRPr lang="pt-PT" sz="1100" kern="1200" dirty="0"/>
        </a:p>
      </dsp:txBody>
      <dsp:txXfrm>
        <a:off x="4581951" y="1076783"/>
        <a:ext cx="1424203" cy="411630"/>
      </dsp:txXfrm>
    </dsp:sp>
    <dsp:sp modelId="{9159C2DE-FFBC-4E6D-8E72-9DAC9E688564}">
      <dsp:nvSpPr>
        <dsp:cNvPr id="0" name=""/>
        <dsp:cNvSpPr/>
      </dsp:nvSpPr>
      <dsp:spPr>
        <a:xfrm>
          <a:off x="4873655" y="1488414"/>
          <a:ext cx="1424203" cy="95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100" kern="1200" smtClean="0"/>
            <a:t>Visualização de padrões e correlações</a:t>
          </a:r>
          <a:endParaRPr lang="pt-BR" sz="1100" kern="1200"/>
        </a:p>
      </dsp:txBody>
      <dsp:txXfrm>
        <a:off x="4901491" y="1516250"/>
        <a:ext cx="1368531" cy="894728"/>
      </dsp:txXfrm>
    </dsp:sp>
    <dsp:sp modelId="{FFEEEDFC-9CED-4A93-9245-08C517FC4E35}">
      <dsp:nvSpPr>
        <dsp:cNvPr id="0" name=""/>
        <dsp:cNvSpPr/>
      </dsp:nvSpPr>
      <dsp:spPr>
        <a:xfrm>
          <a:off x="6222059" y="1105306"/>
          <a:ext cx="457716" cy="354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900" kern="1200"/>
        </a:p>
      </dsp:txBody>
      <dsp:txXfrm>
        <a:off x="6222059" y="1176223"/>
        <a:ext cx="351341" cy="212751"/>
      </dsp:txXfrm>
    </dsp:sp>
    <dsp:sp modelId="{6796F53B-C12A-4ED1-8808-ED7F8F35989E}">
      <dsp:nvSpPr>
        <dsp:cNvPr id="0" name=""/>
        <dsp:cNvSpPr/>
      </dsp:nvSpPr>
      <dsp:spPr>
        <a:xfrm>
          <a:off x="6869771" y="1076783"/>
          <a:ext cx="1424203" cy="6174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100" b="1" kern="1200" dirty="0" smtClean="0"/>
            <a:t>Modelo Preditivo</a:t>
          </a:r>
          <a:endParaRPr lang="pt-PT" sz="1100" kern="1200" dirty="0"/>
        </a:p>
      </dsp:txBody>
      <dsp:txXfrm>
        <a:off x="6869771" y="1076783"/>
        <a:ext cx="1424203" cy="411630"/>
      </dsp:txXfrm>
    </dsp:sp>
    <dsp:sp modelId="{B6D2401A-2BF9-42F3-8013-8A65B1536B95}">
      <dsp:nvSpPr>
        <dsp:cNvPr id="0" name=""/>
        <dsp:cNvSpPr/>
      </dsp:nvSpPr>
      <dsp:spPr>
        <a:xfrm>
          <a:off x="7161475" y="1488414"/>
          <a:ext cx="1424203" cy="95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100" kern="1200" dirty="0" smtClean="0"/>
            <a:t>Treinamento e validação dos algoritmos de Machine Learning</a:t>
          </a:r>
          <a:endParaRPr lang="pt-BR" sz="1100" kern="1200" dirty="0"/>
        </a:p>
      </dsp:txBody>
      <dsp:txXfrm>
        <a:off x="7189311" y="1516250"/>
        <a:ext cx="1368531" cy="894728"/>
      </dsp:txXfrm>
    </dsp:sp>
    <dsp:sp modelId="{F012D1E3-5921-439A-88D5-3D5D8D725B4B}">
      <dsp:nvSpPr>
        <dsp:cNvPr id="0" name=""/>
        <dsp:cNvSpPr/>
      </dsp:nvSpPr>
      <dsp:spPr>
        <a:xfrm>
          <a:off x="8509878" y="1105306"/>
          <a:ext cx="457716" cy="354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900" kern="1200"/>
        </a:p>
      </dsp:txBody>
      <dsp:txXfrm>
        <a:off x="8509878" y="1176223"/>
        <a:ext cx="351341" cy="212751"/>
      </dsp:txXfrm>
    </dsp:sp>
    <dsp:sp modelId="{07D136DF-C11D-4F17-9DBD-D9B4000F3D44}">
      <dsp:nvSpPr>
        <dsp:cNvPr id="0" name=""/>
        <dsp:cNvSpPr/>
      </dsp:nvSpPr>
      <dsp:spPr>
        <a:xfrm>
          <a:off x="9157591" y="1076783"/>
          <a:ext cx="1424203" cy="6174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100" b="1" kern="1200" dirty="0" smtClean="0"/>
            <a:t>Dashboard</a:t>
          </a:r>
          <a:endParaRPr lang="pt-BR" sz="1100" kern="1200" dirty="0"/>
        </a:p>
      </dsp:txBody>
      <dsp:txXfrm>
        <a:off x="9157591" y="1076783"/>
        <a:ext cx="1424203" cy="411630"/>
      </dsp:txXfrm>
    </dsp:sp>
    <dsp:sp modelId="{F034CF9A-F972-44B0-A33D-F56672434067}">
      <dsp:nvSpPr>
        <dsp:cNvPr id="0" name=""/>
        <dsp:cNvSpPr/>
      </dsp:nvSpPr>
      <dsp:spPr>
        <a:xfrm>
          <a:off x="9449295" y="1488414"/>
          <a:ext cx="1424203" cy="95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100" kern="1200" dirty="0" smtClean="0"/>
            <a:t>Exibição dos resultados para apoio à decisão</a:t>
          </a:r>
          <a:endParaRPr lang="pt-BR" sz="1100" kern="1200" dirty="0"/>
        </a:p>
      </dsp:txBody>
      <dsp:txXfrm>
        <a:off x="9477131" y="1516250"/>
        <a:ext cx="1368531" cy="894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614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373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46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6874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255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560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502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diagramLayout" Target="../diagrams/layout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diagramData" Target="../diagrams/data1.xml"/><Relationship Id="rId2" Type="http://schemas.openxmlformats.org/officeDocument/2006/relationships/notesSlide" Target="../notesSlides/notesSlide5.xml"/><Relationship Id="rId16" Type="http://schemas.microsoft.com/office/2007/relationships/diagramDrawing" Target="../diagrams/drawing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diagramColors" Target="../diagrams/colors1.xml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6615715" y="456434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5586902" y="3372195"/>
            <a:ext cx="4763321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Uma nova </a:t>
            </a:r>
            <a:r>
              <a:rPr lang="pt" b="1" dirty="0" err="1">
                <a:latin typeface="Microsoft YaHei"/>
              </a:rPr>
              <a:t>geração</a:t>
            </a:r>
            <a:r>
              <a:rPr lang="pt" b="1" dirty="0">
                <a:latin typeface="Microsoft YaHei"/>
              </a:rPr>
              <a:t> </a:t>
            </a: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de </a:t>
            </a:r>
            <a:r>
              <a:rPr lang="pt" b="1" dirty="0" err="1">
                <a:latin typeface="Microsoft YaHei"/>
              </a:rPr>
              <a:t>especialistas </a:t>
            </a:r>
            <a:r>
              <a:rPr lang="pt" b="1" dirty="0">
                <a:latin typeface="Microsoft YaHei"/>
              </a:rPr>
              <a:t>em </a:t>
            </a:r>
            <a:r>
              <a:rPr lang="pt" b="1" dirty="0" err="1">
                <a:latin typeface="Microsoft YaHei"/>
              </a:rPr>
              <a:t>tecnologia</a:t>
            </a:r>
            <a:endParaRPr b="1" dirty="0">
              <a:latin typeface="Microsoft YaHe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643905" y="2863066"/>
            <a:ext cx="5719155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PT" b="1" dirty="0" smtClean="0">
                <a:solidFill>
                  <a:schemeClr val="bg1"/>
                </a:solidFill>
                <a:latin typeface="Microsoft YaHei"/>
              </a:rPr>
              <a:t>Análise </a:t>
            </a:r>
            <a:r>
              <a:rPr lang="pt-PT" b="1" dirty="0">
                <a:solidFill>
                  <a:schemeClr val="bg1"/>
                </a:solidFill>
                <a:latin typeface="Microsoft YaHei"/>
              </a:rPr>
              <a:t>de Fluxo Turístico Sustentável em Angola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695834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Nota conceitual e plano de implementação :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Contexto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Objetivos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Relação ODS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Dados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Coleta de dados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Análise Exploratória de Dados (EDA) e Engenharia de Recursos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Seleção e Treinamento de Modelos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Avaliação de Modelos e Ajuste 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Refinamento e Teste de Modelos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Resultados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Implantação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6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Trabalho Futuro</a:t>
            </a:r>
            <a:endParaRPr lang="en-US" sz="1600" b="0" i="0" dirty="0">
              <a:solidFill>
                <a:schemeClr val="bg1">
                  <a:lumMod val="50000"/>
                </a:schemeClr>
              </a:solidFill>
              <a:effectLst/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905807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717050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geral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1290911"/>
            <a:ext cx="11425960" cy="557357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V</a:t>
            </a:r>
            <a:r>
              <a:rPr lang="pt" sz="1600" dirty="0" smtClean="0">
                <a:latin typeface="Microsoft YaHei Light"/>
              </a:rPr>
              <a:t>isão </a:t>
            </a:r>
            <a:r>
              <a:rPr lang="pt" sz="1600" dirty="0">
                <a:latin typeface="Microsoft YaHei Light"/>
              </a:rPr>
              <a:t>geral do </a:t>
            </a:r>
            <a:r>
              <a:rPr lang="pt" sz="1600" dirty="0" smtClean="0">
                <a:latin typeface="Microsoft YaHei Light"/>
              </a:rPr>
              <a:t>projecto</a:t>
            </a:r>
            <a:endParaRPr lang="pt" sz="1600" dirty="0" smtClean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</a:t>
            </a:r>
            <a:r>
              <a:rPr lang="pt-PT" sz="1600" dirty="0">
                <a:latin typeface="Microsoft YaHei Light"/>
              </a:rPr>
              <a:t>Estudo dos padrões de entrada, permanência e deslocamento de turistas em Angola.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Identificação de regiões com maior fluxo turístico e períodos de maior sazonalidade.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Proposta de práticas sustentáveis para desenvolvimento equilibrado do turismo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B</a:t>
            </a:r>
            <a:r>
              <a:rPr lang="pt" sz="1600" dirty="0" smtClean="0">
                <a:latin typeface="Microsoft YaHei Light"/>
              </a:rPr>
              <a:t>reve </a:t>
            </a:r>
            <a:r>
              <a:rPr lang="pt" sz="1600" dirty="0">
                <a:latin typeface="Microsoft YaHei Light"/>
              </a:rPr>
              <a:t>histórico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O turismo em Angola tem crescido de forma gradual desde 2017, impulsionado pela estabilidade económica e pela promoção de destinos naturais, como as províncias de Benguela, Namibe e Huíla. No entanto, o país enfrenta desafios como falta de dados integrados, infraestruturas limitadas e ausência de modelos preditivos para planeamento sustentável.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Iniciativas anteriores, como o Plano Diretor de Turismo de Angola (2019), identificaram a necessidade de utilizar dados estatísticos e tecnologias de machine learning para apoiar políticas de sustentabilidade. Assim, o presente projeto propõe uma abordagem baseada em aprendizado de máquina para gerar insights orientados por dados, permitindo uma gestão mais eficiente e sustentável do setor turístico.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Importância do problema a ser </a:t>
            </a:r>
            <a:r>
              <a:rPr lang="pt" sz="1600" dirty="0" smtClean="0">
                <a:latin typeface="Microsoft YaHei Light"/>
              </a:rPr>
              <a:t>resolvido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Sazonalidade elevada e desigualdade no desenvolvimento regional.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Infraestruturas turísticas insuficientes em várias zonas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</a:t>
            </a:r>
            <a:r>
              <a:rPr lang="pt-PT" sz="1600" dirty="0">
                <a:latin typeface="Microsoft YaHei Light"/>
              </a:rPr>
              <a:t>Necessidade de dados estruturados para orientar políticas públicas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493189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407910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248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14359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57183" y="1283553"/>
            <a:ext cx="11463697" cy="540901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Objectivo </a:t>
            </a:r>
            <a:r>
              <a:rPr lang="pt-PT" sz="1600" dirty="0">
                <a:latin typeface="Microsoft YaHei Light"/>
              </a:rPr>
              <a:t>Geral:</a:t>
            </a:r>
          </a:p>
          <a:p>
            <a:pPr algn="just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Analisar o fluxo turístico para apoiar o desenvolvimento sustentável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Objectivos </a:t>
            </a:r>
            <a:r>
              <a:rPr lang="pt-PT" sz="1600" dirty="0">
                <a:latin typeface="Microsoft YaHei Light"/>
              </a:rPr>
              <a:t>Específicos: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</a:t>
            </a:r>
            <a:r>
              <a:rPr lang="pt-PT" sz="1600" dirty="0" smtClean="0">
                <a:latin typeface="Microsoft YaHei Light"/>
              </a:rPr>
              <a:t>Analisar </a:t>
            </a:r>
            <a:r>
              <a:rPr lang="pt-PT" sz="1600" dirty="0">
                <a:latin typeface="Microsoft YaHei Light"/>
              </a:rPr>
              <a:t>os padrões de fluxo turístico em Angola com base em dados estatísticos oficiais.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Identificar </a:t>
            </a:r>
            <a:r>
              <a:rPr lang="pt-PT" sz="1600" dirty="0">
                <a:latin typeface="Microsoft YaHei Light"/>
              </a:rPr>
              <a:t>tendências sazonais, picos de turismo e províncias com maior potencial de desenvolvimento sustentável.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Desenvolver </a:t>
            </a:r>
            <a:r>
              <a:rPr lang="pt-PT" sz="1600" dirty="0">
                <a:latin typeface="Microsoft YaHei Light"/>
              </a:rPr>
              <a:t>um modelo preditivo para estimar o fluxo futuro de turistas, apoiando o planeamento estratégico.</a:t>
            </a:r>
          </a:p>
          <a:p>
            <a:pPr algn="just"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 modelo de aprendizado de máquina irá: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</a:t>
            </a:r>
            <a:r>
              <a:rPr lang="pt-PT" sz="1600" dirty="0">
                <a:latin typeface="Microsoft YaHei Light"/>
              </a:rPr>
              <a:t>Analisar dados históricos e variáveis regionais.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Identificar padrões não evidentes.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Prever a procura turística por província.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Apoiar decisões de investimento e gestão</a:t>
            </a:r>
            <a:r>
              <a:rPr lang="pt-PT" sz="1600" dirty="0" smtClean="0">
                <a:latin typeface="Microsoft YaHei Light"/>
              </a:rPr>
              <a:t>.</a:t>
            </a:r>
            <a:endParaRPr lang="pt-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709224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562385"/>
            <a:ext cx="7756075" cy="940407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smtClean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Objectivos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7324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014824"/>
            <a:ext cx="10692496" cy="41094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 smtClean="0">
                <a:latin typeface="Microsoft YaHei Light"/>
              </a:rPr>
              <a:t>ODS </a:t>
            </a:r>
            <a:r>
              <a:rPr lang="pt-PT" sz="1600" b="1" dirty="0">
                <a:latin typeface="Microsoft YaHei Light"/>
              </a:rPr>
              <a:t>8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b="1" dirty="0">
                <a:latin typeface="Microsoft YaHei Light"/>
              </a:rPr>
              <a:t>– Trabalho Digno e Crescimento Económico:</a:t>
            </a:r>
            <a:r>
              <a:rPr lang="pt-PT" sz="1600" dirty="0">
                <a:latin typeface="Microsoft YaHei Light"/>
              </a:rPr>
              <a:t> ao promover o turismo como motor de emprego e rendimento local, especialmente nas províncias com maior potencial turístico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 smtClean="0">
                <a:latin typeface="Microsoft YaHei Light"/>
              </a:rPr>
              <a:t>ODS </a:t>
            </a:r>
            <a:r>
              <a:rPr lang="pt-PT" sz="1600" b="1" dirty="0">
                <a:latin typeface="Microsoft YaHei Light"/>
              </a:rPr>
              <a:t>11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b="1" dirty="0">
                <a:latin typeface="Microsoft YaHei Light"/>
              </a:rPr>
              <a:t>– Cidades e Comunidades Sustentáveis:</a:t>
            </a:r>
            <a:r>
              <a:rPr lang="pt-PT" sz="1600" dirty="0">
                <a:latin typeface="Microsoft YaHei Light"/>
              </a:rPr>
              <a:t> ao disponibilizar dados que apoiem o planeamento urbano e a gestão do impacto do turismo nas infraestruturas e nos serviços públicos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 smtClean="0">
                <a:latin typeface="Microsoft YaHei Light"/>
              </a:rPr>
              <a:t>ODS </a:t>
            </a:r>
            <a:r>
              <a:rPr lang="pt-PT" sz="1600" b="1" dirty="0">
                <a:latin typeface="Microsoft YaHei Light"/>
              </a:rPr>
              <a:t>12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b="1" dirty="0">
                <a:latin typeface="Microsoft YaHei Light"/>
              </a:rPr>
              <a:t>– Consumo e Produção Sustentáveis:</a:t>
            </a:r>
            <a:r>
              <a:rPr lang="pt-PT" sz="1600" dirty="0">
                <a:latin typeface="Microsoft YaHei Light"/>
              </a:rPr>
              <a:t> ao incentivar políticas e práticas turísticas que respeitem o ambiente e valorizem os recursos naturais e culturais do país.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088469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97365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Relação com ODS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Dados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098893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1713541"/>
            <a:ext cx="11144746" cy="402432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Os </a:t>
            </a:r>
            <a:r>
              <a:rPr lang="pt-PT" sz="1600" dirty="0">
                <a:latin typeface="Microsoft YaHei Light"/>
              </a:rPr>
              <a:t>dados a utilizar incluem entradas e saídas de turistas por província, obtidos a partir de fontes oficiais como o Instituto Nacional de Estatística (INE) e o Ministério do Turismo de Angola</a:t>
            </a:r>
            <a:r>
              <a:rPr lang="pt-PT" sz="1600" dirty="0" smtClean="0">
                <a:latin typeface="Microsoft YaHei Light"/>
              </a:rPr>
              <a:t>.</a:t>
            </a:r>
            <a:endParaRPr lang="en-US" sz="1600" dirty="0" smtClean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Etapas de pré-processamento durante a coleta de </a:t>
            </a:r>
            <a:r>
              <a:rPr lang="pt" sz="1600" dirty="0" smtClean="0">
                <a:latin typeface="Microsoft YaHei Light"/>
              </a:rPr>
              <a:t>dados: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79019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69570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Dados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4138144542"/>
              </p:ext>
            </p:extLst>
          </p:nvPr>
        </p:nvGraphicFramePr>
        <p:xfrm>
          <a:off x="905789" y="2630021"/>
          <a:ext cx="10879811" cy="3515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6645345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Modelo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611347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488937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502678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264722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081413"/>
              </p:ext>
            </p:extLst>
          </p:nvPr>
        </p:nvGraphicFramePr>
        <p:xfrm>
          <a:off x="698304" y="1466056"/>
          <a:ext cx="11143175" cy="1824715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2191160">
                  <a:extLst>
                    <a:ext uri="{9D8B030D-6E8A-4147-A177-3AD203B41FA5}">
                      <a16:colId xmlns:a16="http://schemas.microsoft.com/office/drawing/2014/main" val="3983207523"/>
                    </a:ext>
                  </a:extLst>
                </a:gridCol>
                <a:gridCol w="1864129">
                  <a:extLst>
                    <a:ext uri="{9D8B030D-6E8A-4147-A177-3AD203B41FA5}">
                      <a16:colId xmlns:a16="http://schemas.microsoft.com/office/drawing/2014/main" val="937846714"/>
                    </a:ext>
                  </a:extLst>
                </a:gridCol>
                <a:gridCol w="7087886">
                  <a:extLst>
                    <a:ext uri="{9D8B030D-6E8A-4147-A177-3AD203B41FA5}">
                      <a16:colId xmlns:a16="http://schemas.microsoft.com/office/drawing/2014/main" val="745069029"/>
                    </a:ext>
                  </a:extLst>
                </a:gridCol>
              </a:tblGrid>
              <a:tr h="2874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>
                          <a:effectLst/>
                        </a:rPr>
                        <a:t>Modelo</a:t>
                      </a:r>
                      <a:endParaRPr lang="pt-PT" sz="1200" b="1" kern="10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>
                          <a:effectLst/>
                        </a:rPr>
                        <a:t>Tipo</a:t>
                      </a:r>
                      <a:endParaRPr lang="pt-PT" sz="1200" b="1" kern="10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Descrição</a:t>
                      </a: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209293501"/>
                  </a:ext>
                </a:extLst>
              </a:tr>
              <a:tr h="76865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Linear </a:t>
                      </a:r>
                      <a:r>
                        <a:rPr lang="pt-BR" sz="1200" kern="100" dirty="0" err="1">
                          <a:effectLst/>
                        </a:rPr>
                        <a:t>Regression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Linear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Modelo simples e interpretável, útil para identificar tendências de crescimento ou queda linear ao longo dos anos.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4149707421"/>
                  </a:ext>
                </a:extLst>
              </a:tr>
              <a:tr h="76865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 err="1">
                          <a:effectLst/>
                        </a:rPr>
                        <a:t>RandomForest</a:t>
                      </a:r>
                      <a:r>
                        <a:rPr lang="pt-BR" sz="1200" kern="100" dirty="0">
                          <a:effectLst/>
                        </a:rPr>
                        <a:t> </a:t>
                      </a:r>
                      <a:r>
                        <a:rPr lang="pt-BR" sz="1200" kern="100" dirty="0" err="1">
                          <a:effectLst/>
                        </a:rPr>
                        <a:t>Regressor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Ensemble / Não linear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Modelo baseado em múltiplas árvores de decisão, capaz de capturar relações complexas e variações não lineares nos dados.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261246372"/>
                  </a:ext>
                </a:extLst>
              </a:tr>
            </a:tbl>
          </a:graphicData>
        </a:graphic>
      </p:graphicFrame>
      <p:sp>
        <p:nvSpPr>
          <p:cNvPr id="7" name="Espaço Reservado para Texto 6"/>
          <p:cNvSpPr>
            <a:spLocks noGrp="1"/>
          </p:cNvSpPr>
          <p:nvPr>
            <p:ph type="body" sz="half" idx="1"/>
          </p:nvPr>
        </p:nvSpPr>
        <p:spPr>
          <a:xfrm>
            <a:off x="698304" y="3327400"/>
            <a:ext cx="5260895" cy="333567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b="1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Hiperparâmetros </a:t>
            </a:r>
            <a:r>
              <a:rPr lang="pt" b="1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usados:</a:t>
            </a:r>
            <a:endParaRPr lang="pt" b="1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b="1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Linear Regression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fit_intercept=True (calcula o intercepto)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n_jobs=None (processamento padrão)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 </a:t>
            </a:r>
            <a:r>
              <a:rPr lang="pt-PT" b="1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RandomForest Regressor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n_estimators = 200 → número de árvores da floresta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random_state = 42 → garante reprodutibilidade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max_depth = None → permite que as árvores cresçam totalmente, ajustando-se a padrões não lineares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min_samples_split = 2, min_samples_leaf = 1 → padrão adequado para datasets </a:t>
            </a:r>
            <a:r>
              <a:rPr lang="pt-PT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pequenos/médios</a:t>
            </a:r>
            <a:endParaRPr lang="pt-PT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</p:txBody>
      </p:sp>
      <p:sp>
        <p:nvSpPr>
          <p:cNvPr id="21" name="Espaço Reservado para Texto 6"/>
          <p:cNvSpPr txBox="1">
            <a:spLocks/>
          </p:cNvSpPr>
          <p:nvPr/>
        </p:nvSpPr>
        <p:spPr>
          <a:xfrm>
            <a:off x="6108504" y="3581400"/>
            <a:ext cx="5732975" cy="323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400" b="1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Técnicas de Validação Cruzada</a:t>
            </a: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400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Devido ao número limitado de anos (2010–2023), foi usada a técnica </a:t>
            </a:r>
            <a:r>
              <a:rPr lang="pt-PT" sz="1400" b="1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TimeSeriesSplit</a:t>
            </a:r>
            <a:r>
              <a:rPr lang="pt-PT" sz="1400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, adequada para séries temporais</a:t>
            </a:r>
            <a:r>
              <a:rPr lang="pt-PT" sz="1400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:</a:t>
            </a:r>
            <a:endParaRPr lang="pt-PT" sz="1400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400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Mantém </a:t>
            </a:r>
            <a:r>
              <a:rPr lang="pt-PT" sz="1400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a ordem cronológica dos </a:t>
            </a:r>
            <a:r>
              <a:rPr lang="pt-PT" sz="1400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dados;</a:t>
            </a:r>
            <a:endParaRPr lang="pt-PT" sz="1400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hangingPunct="1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400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Treina </a:t>
            </a:r>
            <a:r>
              <a:rPr lang="pt-PT" sz="1400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o modelo em janelas de anos anteriores e valida em períodos </a:t>
            </a:r>
            <a:r>
              <a:rPr lang="pt-PT" sz="1400" dirty="0" smtClean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futuros.</a:t>
            </a: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400" dirty="0">
              <a:solidFill>
                <a:srgbClr val="000000"/>
              </a:solidFill>
              <a:latin typeface="Microsoft YaHei Light"/>
              <a:ea typeface="Merriweather Sans Light"/>
              <a:cs typeface="Merriweather Sans Light"/>
              <a:sym typeface="Merriweather Sans Light"/>
            </a:endParaRPr>
          </a:p>
          <a:p>
            <a:pPr marL="0" indent="0" hangingPunct="1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400" dirty="0">
                <a:solidFill>
                  <a:srgbClr val="000000"/>
                </a:solidFill>
                <a:latin typeface="Microsoft YaHei Light"/>
                <a:ea typeface="Merriweather Sans Light"/>
                <a:cs typeface="Merriweather Sans Light"/>
                <a:sym typeface="Merriweather Sans Light"/>
              </a:rPr>
              <a:t>Para conjuntos de dados menores (por província), onde poucos anos estão disponíveis, utilizou-se apenas a validação in-sample.</a:t>
            </a:r>
          </a:p>
        </p:txBody>
      </p:sp>
    </p:spTree>
    <p:extLst>
      <p:ext uri="{BB962C8B-B14F-4D97-AF65-F5344CB8AC3E}">
        <p14:creationId xmlns:p14="http://schemas.microsoft.com/office/powerpoint/2010/main" val="42224023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789673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79071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Figura2"/>
          <p:cNvPicPr/>
          <p:nvPr/>
        </p:nvPicPr>
        <p:blipFill>
          <a:blip r:embed="rId12"/>
          <a:stretch>
            <a:fillRect/>
          </a:stretch>
        </p:blipFill>
        <p:spPr bwMode="auto">
          <a:xfrm>
            <a:off x="139701" y="2022614"/>
            <a:ext cx="7218029" cy="4340086"/>
          </a:xfrm>
          <a:prstGeom prst="rect">
            <a:avLst/>
          </a:prstGeom>
        </p:spPr>
      </p:pic>
      <p:graphicFrame>
        <p:nvGraphicFramePr>
          <p:cNvPr id="21" name="Tabe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72272"/>
              </p:ext>
            </p:extLst>
          </p:nvPr>
        </p:nvGraphicFramePr>
        <p:xfrm>
          <a:off x="7620000" y="2374900"/>
          <a:ext cx="4525629" cy="2806700"/>
        </p:xfrm>
        <a:graphic>
          <a:graphicData uri="http://schemas.openxmlformats.org/drawingml/2006/table">
            <a:tbl>
              <a:tblPr firstRow="1" firstCol="1" bandRow="1">
                <a:tableStyleId>{35758FB7-9AC5-4552-8A53-C91805E547FA}</a:tableStyleId>
              </a:tblPr>
              <a:tblGrid>
                <a:gridCol w="2034758">
                  <a:extLst>
                    <a:ext uri="{9D8B030D-6E8A-4147-A177-3AD203B41FA5}">
                      <a16:colId xmlns:a16="http://schemas.microsoft.com/office/drawing/2014/main" val="1934877605"/>
                    </a:ext>
                  </a:extLst>
                </a:gridCol>
                <a:gridCol w="1346491">
                  <a:extLst>
                    <a:ext uri="{9D8B030D-6E8A-4147-A177-3AD203B41FA5}">
                      <a16:colId xmlns:a16="http://schemas.microsoft.com/office/drawing/2014/main" val="2078778317"/>
                    </a:ext>
                  </a:extLst>
                </a:gridCol>
                <a:gridCol w="1144380">
                  <a:extLst>
                    <a:ext uri="{9D8B030D-6E8A-4147-A177-3AD203B41FA5}">
                      <a16:colId xmlns:a16="http://schemas.microsoft.com/office/drawing/2014/main" val="3746079567"/>
                    </a:ext>
                  </a:extLst>
                </a:gridCol>
              </a:tblGrid>
              <a:tr h="420516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 i="0" u="none" strike="noStrike" cap="none" spc="0" baseline="0" dirty="0" smtClean="0">
                          <a:solidFill>
                            <a:schemeClr val="lt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Comparação de Modelos</a:t>
                      </a: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2973230153"/>
                  </a:ext>
                </a:extLst>
              </a:tr>
              <a:tr h="7725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Métrica</a:t>
                      </a: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Linear </a:t>
                      </a:r>
                      <a:r>
                        <a:rPr lang="pt-BR" sz="1200" kern="100" dirty="0" err="1">
                          <a:effectLst/>
                        </a:rPr>
                        <a:t>Regression</a:t>
                      </a: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kern="100" dirty="0" err="1">
                          <a:effectLst/>
                        </a:rPr>
                        <a:t>RandomForest</a:t>
                      </a:r>
                      <a:endParaRPr lang="pt-PT" sz="1200" b="1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535939717"/>
                  </a:ext>
                </a:extLst>
              </a:tr>
              <a:tr h="4205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R² </a:t>
                      </a:r>
                      <a:r>
                        <a:rPr lang="pt-BR" sz="1200" kern="100" dirty="0" err="1">
                          <a:effectLst/>
                        </a:rPr>
                        <a:t>in-sample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0.0026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0.8287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450460610"/>
                  </a:ext>
                </a:extLst>
              </a:tr>
              <a:tr h="4205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RMSE (erro médio)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48.153 turistas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19.952 turistas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3591481515"/>
                  </a:ext>
                </a:extLst>
              </a:tr>
              <a:tr h="7725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R² validação cruzada média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-2.409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200" kern="100" dirty="0">
                          <a:effectLst/>
                        </a:rPr>
                        <a:t>-0.264</a:t>
                      </a:r>
                      <a:endParaRPr lang="pt-PT" sz="1200" kern="100" dirty="0">
                        <a:effectLst/>
                        <a:latin typeface="Liberation Serif"/>
                        <a:ea typeface="Noto Serif CJK SC"/>
                        <a:cs typeface="Lohit Devanagari"/>
                      </a:endParaRPr>
                    </a:p>
                  </a:txBody>
                  <a:tcPr marL="17780" marR="17780" marT="17780" marB="17780" anchor="ctr"/>
                </a:tc>
                <a:extLst>
                  <a:ext uri="{0D108BD9-81ED-4DB2-BD59-A6C34878D82A}">
                    <a16:rowId xmlns:a16="http://schemas.microsoft.com/office/drawing/2014/main" val="1373589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0195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 err="1">
                <a:solidFill>
                  <a:schemeClr val="bg1"/>
                </a:solidFill>
                <a:latin typeface="Microsoft YaHei"/>
              </a:rPr>
              <a:t>Resultado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795300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7419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6296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Resultados 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039653" y="3454400"/>
            <a:ext cx="4919546" cy="27225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b="1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Linear </a:t>
            </a:r>
            <a:r>
              <a:rPr lang="pt-BR" sz="1600" b="1" dirty="0" err="1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Regression</a:t>
            </a:r>
            <a:endParaRPr lang="pt-PT" sz="1600" b="1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0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R² </a:t>
            </a:r>
            <a:r>
              <a:rPr lang="pt-BR" sz="1600" b="1" dirty="0" err="1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in-sample</a:t>
            </a:r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0.0026 → quase zero, não explica a variação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0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RMSE: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48.153 turistas → alto, previsões distantes da realidade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0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R² CV: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-2.41 → modelo pior que a média simples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Conclusão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 útil apenas para </a:t>
            </a:r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analisar tendência média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, não para previsões precisas.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18" name="Figura1"/>
          <p:cNvPicPr/>
          <p:nvPr/>
        </p:nvPicPr>
        <p:blipFill>
          <a:blip r:embed="rId12"/>
          <a:stretch>
            <a:fillRect/>
          </a:stretch>
        </p:blipFill>
        <p:spPr bwMode="auto">
          <a:xfrm>
            <a:off x="2775202" y="1424037"/>
            <a:ext cx="13817600" cy="1935364"/>
          </a:xfrm>
          <a:prstGeom prst="rect">
            <a:avLst/>
          </a:prstGeom>
        </p:spPr>
      </p:pic>
      <p:sp>
        <p:nvSpPr>
          <p:cNvPr id="19" name="Espaço Reservado para Texto 2"/>
          <p:cNvSpPr txBox="1">
            <a:spLocks/>
          </p:cNvSpPr>
          <p:nvPr/>
        </p:nvSpPr>
        <p:spPr>
          <a:xfrm>
            <a:off x="6614953" y="3416300"/>
            <a:ext cx="4919546" cy="2722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>
              <a:buNone/>
            </a:pPr>
            <a:r>
              <a:rPr lang="pt-BR" sz="1600" b="1" dirty="0" err="1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RandomForest</a:t>
            </a:r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</a:t>
            </a:r>
            <a:r>
              <a:rPr lang="pt-BR" sz="1600" b="1" dirty="0" err="1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Regressor</a:t>
            </a:r>
            <a:endParaRPr lang="pt-PT" sz="1600" b="1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0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R² </a:t>
            </a:r>
            <a:r>
              <a:rPr lang="pt-BR" sz="1600" b="1" dirty="0" err="1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in-sample</a:t>
            </a:r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0.829 → captura 82,9% da variação real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0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RMSE: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19.952 turistas → previsões próximas da realidade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lvl="0"/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R² CV: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 -0.264 → generalização limitada, devido a </a:t>
            </a:r>
            <a:r>
              <a:rPr lang="pt-BR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poucos anos de histórico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Conclusão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 mais robusto e adequado para previsões futuras, mas ainda limitado para longos períodos sem mais dados.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9399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Implantação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992153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3101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28154" y="1851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Implantação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833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30237" y="927189"/>
            <a:ext cx="11059479" cy="17779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 fase de implantação do projeto teve como foco disponibilizar o modelo de previsão de fluxo turístico num ambiente acessível e interativo. Para isso, foram treinados modelos de Machine Learning (Regressão Linear e Random Forest) com dados históricos, selecionado e guardado o modelo final para reutilização, e criada uma interface visual em Streamlit para permitir a interação e a geração de previsões.</a:t>
            </a:r>
          </a:p>
        </p:txBody>
      </p:sp>
      <p:sp>
        <p:nvSpPr>
          <p:cNvPr id="19" name="Espaço Reservado para Texto 2"/>
          <p:cNvSpPr txBox="1">
            <a:spLocks/>
          </p:cNvSpPr>
          <p:nvPr/>
        </p:nvSpPr>
        <p:spPr>
          <a:xfrm>
            <a:off x="579737" y="1955800"/>
            <a:ext cx="5742323" cy="177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algn="just" hangingPunct="1">
              <a:buNone/>
            </a:pPr>
            <a:r>
              <a:rPr lang="pt-PT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Serialização de modelos</a:t>
            </a:r>
          </a:p>
          <a:p>
            <a:pPr marL="0" indent="0" algn="just" hangingPunct="1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Após o treino e validação, os modelos de Machine Learning foram serializados usando a biblioteca joblib, que é otimizada para armazenar objetos Python grandes, como árvores de decisão ou modelos de regressão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</a:p>
          <a:p>
            <a:pPr marL="0" indent="0" algn="just" hangingPunct="1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Vantagens: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Permite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reusar o modelo sem precisar 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reentreinar;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Ocupa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pouco espaço de armazenamento;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Pode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ser carregado rapidamente para previsão:</a:t>
            </a:r>
          </a:p>
          <a:p>
            <a:pPr marL="0" indent="0" algn="just" hangingPunct="1">
              <a:buNone/>
            </a:pP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4" name="Figura2"/>
          <p:cNvPicPr/>
          <p:nvPr/>
        </p:nvPicPr>
        <p:blipFill>
          <a:blip r:embed="rId12"/>
          <a:stretch>
            <a:fillRect/>
          </a:stretch>
        </p:blipFill>
        <p:spPr bwMode="auto">
          <a:xfrm>
            <a:off x="561340" y="4939982"/>
            <a:ext cx="5760720" cy="432435"/>
          </a:xfrm>
          <a:prstGeom prst="rect">
            <a:avLst/>
          </a:prstGeom>
        </p:spPr>
      </p:pic>
      <p:sp>
        <p:nvSpPr>
          <p:cNvPr id="25" name="Espaço Reservado para Texto 2"/>
          <p:cNvSpPr txBox="1">
            <a:spLocks/>
          </p:cNvSpPr>
          <p:nvPr/>
        </p:nvSpPr>
        <p:spPr>
          <a:xfrm>
            <a:off x="6472537" y="1930400"/>
            <a:ext cx="5742323" cy="177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marL="0" indent="0" algn="just" hangingPunct="1">
              <a:buNone/>
            </a:pPr>
            <a:r>
              <a:rPr lang="pt-PT" sz="1600" b="1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Integração </a:t>
            </a:r>
            <a:r>
              <a:rPr lang="pt-PT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 API</a:t>
            </a:r>
          </a:p>
          <a:p>
            <a:pPr marL="0" indent="0" algn="just" hangingPunct="1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Embora o 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projecto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atual utilize uma interface Streamlit, ele foi estruturado de modo a permitir integração futura com uma API REST usando o Flask ou FastAPI.</a:t>
            </a:r>
          </a:p>
          <a:p>
            <a:pPr marL="0" indent="0" algn="just" hangingPunct="1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Exemplo de endpoint 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planeado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POST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/predict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Entrada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(JSON):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Saída (JSON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):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 algn="just" hangingPunct="1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Essa integração permitirá conectar o modelo a sistemas externos, como plataformas de estatísticas do Ministério do Turismo ou dashboards online.</a:t>
            </a:r>
          </a:p>
          <a:p>
            <a:pPr marL="0" indent="0" algn="just" hangingPunct="1">
              <a:buNone/>
            </a:pP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Permite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reusar o modelo sem precisar 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reentreinar;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Ocupa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pouco espaço de armazenamento;</a:t>
            </a:r>
          </a:p>
          <a:p>
            <a:pPr algn="just" hangingPunct="1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Pode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ser carregado rapidamente para 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previsão.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 algn="just" hangingPunct="1">
              <a:buNone/>
            </a:pP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6" name="Figura3"/>
          <p:cNvPicPr/>
          <p:nvPr/>
        </p:nvPicPr>
        <p:blipFill>
          <a:blip r:embed="rId13"/>
          <a:stretch>
            <a:fillRect/>
          </a:stretch>
        </p:blipFill>
        <p:spPr bwMode="auto">
          <a:xfrm>
            <a:off x="8382000" y="3680767"/>
            <a:ext cx="3078350" cy="303304"/>
          </a:xfrm>
          <a:prstGeom prst="rect">
            <a:avLst/>
          </a:prstGeom>
        </p:spPr>
      </p:pic>
      <p:pic>
        <p:nvPicPr>
          <p:cNvPr id="27" name="Figura4"/>
          <p:cNvPicPr/>
          <p:nvPr/>
        </p:nvPicPr>
        <p:blipFill>
          <a:blip r:embed="rId14"/>
          <a:stretch>
            <a:fillRect/>
          </a:stretch>
        </p:blipFill>
        <p:spPr bwMode="auto">
          <a:xfrm>
            <a:off x="8339137" y="4083050"/>
            <a:ext cx="3121213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268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"/>
          <p:cNvSpPr/>
          <p:nvPr/>
        </p:nvSpPr>
        <p:spPr>
          <a:xfrm>
            <a:off x="698305" y="716535"/>
            <a:ext cx="6382979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5661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Conclusão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Trabalho futuro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039652" y="1482153"/>
            <a:ext cx="10453847" cy="47798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 análise do fluxo turístico em Angola permite compreender padrões de mobilidade, sazonalidade e desigualdade no desenvolvimento turístico entre províncias. Apesar do grande potencial natural, cultural e histórico, os benefícios económicos permanecem concentrados em algumas regiões. O uso de um modelo de aprendizado de máquina permite prever a procura turística, identificar tendências e apoiar decisões estratégicas, promovendo um turismo sustentável que valoriza o ambiente e a cultura local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</a:p>
          <a:p>
            <a:pPr marL="0" indent="0" algn="just">
              <a:buNone/>
            </a:pP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 algn="just">
              <a:buNone/>
            </a:pPr>
            <a:r>
              <a:rPr lang="pt-PT" sz="1600" b="1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Trabalho </a:t>
            </a:r>
            <a:r>
              <a:rPr lang="pt-PT" sz="1600" b="1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Futuro</a:t>
            </a:r>
            <a:endParaRPr lang="pt-PT" sz="1600" dirty="0">
              <a:solidFill>
                <a:schemeClr val="bg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0" indent="0" algn="just">
              <a:buNone/>
            </a:pP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Para dar continuidade e aprofundar os resultados deste 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projecto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, recomenda-se como trabalho futuro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Ampliar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a base de dados, incluindo variáveis socioeconómicas, indicadores de mobilidade, eventos culturais e dados climáticos, para melhorar a precisão das previsões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Desenvolver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dashboards interativos (ex.: Power BI, Tableau ou Streamlit) que permitam aos decisores explorar cenários e acompanhar a evolução do fluxo turístico em tempo real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Integrar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dados de plataformas digitais (ex.: reservas online, avaliações de viajantes e redes sociais) para captar tendências comportamentais emergentes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Estudar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o impacto social local, avaliando como o turismo influencia emprego, custos de vida e preservação cultural em diferentes regiões</a:t>
            </a: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PT" sz="1600" dirty="0" smtClean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Realizar </a:t>
            </a: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estudos de campo em comunidades locais, para compreender a perceção da população sobre os benefícios e desafios do turismo.</a:t>
            </a:r>
          </a:p>
        </p:txBody>
      </p:sp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3476848" y="3264195"/>
            <a:ext cx="5279148" cy="239616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sz="7200" b="1" dirty="0" err="1">
                <a:latin typeface="Microsoft YaHei"/>
              </a:rPr>
              <a:t>Obrigado</a:t>
            </a:r>
            <a:r>
              <a:rPr sz="7200" b="1" dirty="0">
                <a:latin typeface="Microsoft YaHei"/>
              </a:rPr>
              <a:t>!</a:t>
            </a:r>
            <a:endParaRPr lang="en-US" sz="7200" b="1" dirty="0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449C5-8A7C-4DDF-8BBD-9834F5F8D2B3}">
  <ds:schemaRefs>
    <ds:schemaRef ds:uri="http://schemas.microsoft.com/office/2006/metadata/properties"/>
    <ds:schemaRef ds:uri="http://www.w3.org/2000/xmlns/"/>
    <ds:schemaRef ds:uri="97847797-b717-4ffb-b5fd-2a237f853cda"/>
    <ds:schemaRef ds:uri="http://www.w3.org/2001/XMLSchema-instance"/>
    <ds:schemaRef ds:uri="6259e846-8b77-4076-b7b3-191dee427045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9C168A-BF07-44C9-8193-C4E90CE7716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259e846-8b77-4076-b7b3-191dee427045"/>
    <ds:schemaRef ds:uri="97847797-b717-4ffb-b5fd-2a237f853cd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1415</TotalTime>
  <Words>1334</Words>
  <Application>Microsoft Office PowerPoint</Application>
  <PresentationFormat>Widescreen</PresentationFormat>
  <Paragraphs>156</Paragraphs>
  <Slides>17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32" baseType="lpstr">
      <vt:lpstr>Microsoft YaHei</vt:lpstr>
      <vt:lpstr>Microsoft YaHei Light</vt:lpstr>
      <vt:lpstr>Arial</vt:lpstr>
      <vt:lpstr>Calibri</vt:lpstr>
      <vt:lpstr>Calibri Light</vt:lpstr>
      <vt:lpstr>Helvetica</vt:lpstr>
      <vt:lpstr>Helvetica Neue Thin</vt:lpstr>
      <vt:lpstr>Liberation Serif</vt:lpstr>
      <vt:lpstr>Lohit Devanagari</vt:lpstr>
      <vt:lpstr>Merriweather Sans Light</vt:lpstr>
      <vt:lpstr>Merriweather Sans Regular</vt:lpstr>
      <vt:lpstr>Merriweather Sans Regular ExtraBold</vt:lpstr>
      <vt:lpstr>Myriad Pro Semibold</vt:lpstr>
      <vt:lpstr>Noto Serif CJK SC</vt:lpstr>
      <vt:lpstr>frontiertech</vt:lpstr>
      <vt:lpstr>Apresentação do PowerPoint</vt:lpstr>
      <vt:lpstr>Apresentação do PowerPoint</vt:lpstr>
      <vt:lpstr>geral</vt:lpstr>
      <vt:lpstr>Background</vt:lpstr>
      <vt:lpstr>Objectivos</vt:lpstr>
      <vt:lpstr>Relação com ODS</vt:lpstr>
      <vt:lpstr>Apresentação do PowerPoint</vt:lpstr>
      <vt:lpstr>Dados</vt:lpstr>
      <vt:lpstr>Apresentação do PowerPoint</vt:lpstr>
      <vt:lpstr>Seleção e Treinamento / Teste de Modelos</vt:lpstr>
      <vt:lpstr>Seleção e Treinamento / Teste de Modelos</vt:lpstr>
      <vt:lpstr>Apresentação do PowerPoint</vt:lpstr>
      <vt:lpstr>Resultados </vt:lpstr>
      <vt:lpstr>Apresentação do PowerPoint</vt:lpstr>
      <vt:lpstr>Implantação</vt:lpstr>
      <vt:lpstr>Conclusão e Trabalho futuro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Pequeno Infinito-Leo</cp:lastModifiedBy>
  <cp:revision>54</cp:revision>
  <dcterms:modified xsi:type="dcterms:W3CDTF">2025-11-06T13:07:24Z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